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1" r:id="rId3"/>
    <p:sldId id="257" r:id="rId4"/>
    <p:sldId id="263" r:id="rId5"/>
    <p:sldId id="265" r:id="rId6"/>
    <p:sldId id="264" r:id="rId7"/>
    <p:sldId id="262" r:id="rId8"/>
    <p:sldId id="258" r:id="rId9"/>
    <p:sldId id="259" r:id="rId10"/>
    <p:sldId id="260" r:id="rId11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06"/>
    <p:restoredTop sz="94706"/>
  </p:normalViewPr>
  <p:slideViewPr>
    <p:cSldViewPr snapToGrid="0">
      <p:cViewPr varScale="1">
        <p:scale>
          <a:sx n="30" d="100"/>
          <a:sy n="30" d="100"/>
        </p:scale>
        <p:origin x="1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51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2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7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8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0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2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8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16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7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5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7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0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62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6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6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2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0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20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32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12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Relationship Id="rId14" Type="http://schemas.openxmlformats.org/officeDocument/2006/relationships/image" Target="../media/image3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5CCCDD-A267-8505-11D4-8A674973A2FA}"/>
              </a:ext>
            </a:extLst>
          </p:cNvPr>
          <p:cNvSpPr txBox="1"/>
          <p:nvPr/>
        </p:nvSpPr>
        <p:spPr>
          <a:xfrm>
            <a:off x="2999135" y="1470258"/>
            <a:ext cx="2384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Pretraining documents are conditioned on latent concepts (e.g. Addition, Subtraction)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A46590-26FF-C34B-AF4D-A6402323EE8E}"/>
              </a:ext>
            </a:extLst>
          </p:cNvPr>
          <p:cNvSpPr/>
          <p:nvPr/>
        </p:nvSpPr>
        <p:spPr>
          <a:xfrm>
            <a:off x="5706661" y="1661457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1DFDB-658F-D01B-B258-B60FEB959A32}"/>
              </a:ext>
            </a:extLst>
          </p:cNvPr>
          <p:cNvSpPr txBox="1"/>
          <p:nvPr/>
        </p:nvSpPr>
        <p:spPr>
          <a:xfrm>
            <a:off x="5957002" y="1968485"/>
            <a:ext cx="151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  <a:p>
            <a:r>
              <a:rPr lang="en-US" dirty="0"/>
              <a:t>(e.g. Division)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E5219A-BBBD-5CDF-465C-8F2668C0EEBB}"/>
              </a:ext>
            </a:extLst>
          </p:cNvPr>
          <p:cNvCxnSpPr>
            <a:stCxn id="6" idx="6"/>
          </p:cNvCxnSpPr>
          <p:nvPr/>
        </p:nvCxnSpPr>
        <p:spPr>
          <a:xfrm>
            <a:off x="7683740" y="2291650"/>
            <a:ext cx="593124" cy="0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D17258-01E6-5281-5F6C-75B0365F4980}"/>
              </a:ext>
            </a:extLst>
          </p:cNvPr>
          <p:cNvSpPr/>
          <p:nvPr/>
        </p:nvSpPr>
        <p:spPr>
          <a:xfrm>
            <a:off x="8276864" y="1003467"/>
            <a:ext cx="2792626" cy="25763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There was were 4 pizzas that needed to be shared between 8 people, so I gave each person </a:t>
            </a:r>
            <a:r>
              <a:rPr lang="en-US" u="sng" dirty="0"/>
              <a:t>1/2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076B3F4-6723-BB2E-BEF3-6D6FF698556F}"/>
              </a:ext>
            </a:extLst>
          </p:cNvPr>
          <p:cNvSpPr/>
          <p:nvPr/>
        </p:nvSpPr>
        <p:spPr>
          <a:xfrm>
            <a:off x="15372660" y="1003467"/>
            <a:ext cx="3431059" cy="25763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 num_pizza_each( pizzas, people):</a:t>
            </a:r>
          </a:p>
          <a:p>
            <a:r>
              <a:rPr lang="en-US" dirty="0"/>
              <a:t>            return pizzas / people</a:t>
            </a:r>
          </a:p>
          <a:p>
            <a:r>
              <a:rPr lang="en-US" dirty="0"/>
              <a:t>def cost_for_each_pizza(…</a:t>
            </a:r>
          </a:p>
          <a:p>
            <a:endParaRPr lang="en-US" dirty="0"/>
          </a:p>
          <a:p>
            <a:r>
              <a:rPr lang="en-US" dirty="0"/>
              <a:t>&gt;&gt;&gt; Compute_Pizza(4,8)</a:t>
            </a:r>
          </a:p>
          <a:p>
            <a:r>
              <a:rPr lang="en-US" dirty="0"/>
              <a:t>&gt;&gt;&gt; 1/2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66D2C4-5A81-1C20-7659-28295A52FCFC}"/>
              </a:ext>
            </a:extLst>
          </p:cNvPr>
          <p:cNvSpPr txBox="1"/>
          <p:nvPr/>
        </p:nvSpPr>
        <p:spPr>
          <a:xfrm>
            <a:off x="15461335" y="622057"/>
            <a:ext cx="159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(Python)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BCA5E3-B80D-93EA-E36D-52D050FA95E6}"/>
              </a:ext>
            </a:extLst>
          </p:cNvPr>
          <p:cNvSpPr/>
          <p:nvPr/>
        </p:nvSpPr>
        <p:spPr>
          <a:xfrm>
            <a:off x="5543477" y="6055683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118AB-1B85-F9F9-4885-B70096097FBE}"/>
              </a:ext>
            </a:extLst>
          </p:cNvPr>
          <p:cNvSpPr txBox="1"/>
          <p:nvPr/>
        </p:nvSpPr>
        <p:spPr>
          <a:xfrm>
            <a:off x="5745254" y="6407034"/>
            <a:ext cx="151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  <a:p>
            <a:r>
              <a:rPr lang="en-US" dirty="0"/>
              <a:t>(e.g. Division)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C2843A-F2B3-D652-1D5D-F87C31209AB2}"/>
              </a:ext>
            </a:extLst>
          </p:cNvPr>
          <p:cNvSpPr txBox="1"/>
          <p:nvPr/>
        </p:nvSpPr>
        <p:spPr>
          <a:xfrm>
            <a:off x="2999135" y="4800270"/>
            <a:ext cx="23848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Sample examples conditioned on previous examples and the inferred concept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56B3D5A-F31A-B824-D0B8-55BAA443B5EF}"/>
              </a:ext>
            </a:extLst>
          </p:cNvPr>
          <p:cNvSpPr/>
          <p:nvPr/>
        </p:nvSpPr>
        <p:spPr>
          <a:xfrm>
            <a:off x="8165216" y="4936163"/>
            <a:ext cx="2792626" cy="62986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I had 4 apples and two people an equal amount each, how much does each person have? </a:t>
            </a:r>
            <a:endParaRPr lang="en-US" sz="1400" u="sng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8C7203-B1A5-D1D5-8DE5-A85B36ADBB8B}"/>
              </a:ext>
            </a:extLst>
          </p:cNvPr>
          <p:cNvSpPr/>
          <p:nvPr/>
        </p:nvSpPr>
        <p:spPr>
          <a:xfrm>
            <a:off x="15440698" y="3726072"/>
            <a:ext cx="3294976" cy="62986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I had 4 apples and gave each person equal amount, how much does each person have? </a:t>
            </a:r>
            <a:endParaRPr lang="en-US" sz="1400" u="sng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A0BD34-9F55-8884-0477-37D8BDBC8C78}"/>
              </a:ext>
            </a:extLst>
          </p:cNvPr>
          <p:cNvCxnSpPr>
            <a:cxnSpLocks/>
          </p:cNvCxnSpPr>
          <p:nvPr/>
        </p:nvCxnSpPr>
        <p:spPr>
          <a:xfrm flipH="1">
            <a:off x="9499589" y="5566029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91ADF1-CE07-6BB2-38BF-C6C0FBD78685}"/>
              </a:ext>
            </a:extLst>
          </p:cNvPr>
          <p:cNvCxnSpPr>
            <a:cxnSpLocks/>
          </p:cNvCxnSpPr>
          <p:nvPr/>
        </p:nvCxnSpPr>
        <p:spPr>
          <a:xfrm flipH="1">
            <a:off x="17135714" y="4355939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557C83-34BA-D620-5964-73CAF205091F}"/>
              </a:ext>
            </a:extLst>
          </p:cNvPr>
          <p:cNvCxnSpPr>
            <a:cxnSpLocks/>
          </p:cNvCxnSpPr>
          <p:nvPr/>
        </p:nvCxnSpPr>
        <p:spPr>
          <a:xfrm flipH="1">
            <a:off x="9507884" y="6575755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DF23CE-762C-ECBE-DA6C-E8310EB82B06}"/>
              </a:ext>
            </a:extLst>
          </p:cNvPr>
          <p:cNvCxnSpPr>
            <a:cxnSpLocks/>
          </p:cNvCxnSpPr>
          <p:nvPr/>
        </p:nvCxnSpPr>
        <p:spPr>
          <a:xfrm>
            <a:off x="17139991" y="5373136"/>
            <a:ext cx="0" cy="270766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B2267E-738A-BE0C-B801-6F141C8B323C}"/>
              </a:ext>
            </a:extLst>
          </p:cNvPr>
          <p:cNvCxnSpPr>
            <a:cxnSpLocks/>
          </p:cNvCxnSpPr>
          <p:nvPr/>
        </p:nvCxnSpPr>
        <p:spPr>
          <a:xfrm flipH="1">
            <a:off x="9485400" y="7603330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FB32B9-99CE-1AD7-19DC-17D667F45C8C}"/>
              </a:ext>
            </a:extLst>
          </p:cNvPr>
          <p:cNvCxnSpPr>
            <a:cxnSpLocks/>
          </p:cNvCxnSpPr>
          <p:nvPr/>
        </p:nvCxnSpPr>
        <p:spPr>
          <a:xfrm flipH="1">
            <a:off x="17135714" y="6485945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Left Brace 32">
            <a:extLst>
              <a:ext uri="{FF2B5EF4-FFF2-40B4-BE49-F238E27FC236}">
                <a16:creationId xmlns:a16="http://schemas.microsoft.com/office/drawing/2014/main" id="{13D0F6C6-317F-3D35-1BC5-B4EF3CDCE8C3}"/>
              </a:ext>
            </a:extLst>
          </p:cNvPr>
          <p:cNvSpPr/>
          <p:nvPr/>
        </p:nvSpPr>
        <p:spPr>
          <a:xfrm flipH="1">
            <a:off x="11151237" y="4911342"/>
            <a:ext cx="169706" cy="876602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D316D95-2E77-CEA9-C6FF-C74632543FF5}"/>
              </a:ext>
            </a:extLst>
          </p:cNvPr>
          <p:cNvSpPr/>
          <p:nvPr/>
        </p:nvSpPr>
        <p:spPr>
          <a:xfrm>
            <a:off x="8165216" y="8687561"/>
            <a:ext cx="2792626" cy="596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 four divided by two is two.</a:t>
            </a:r>
            <a:endParaRPr lang="en-US" sz="1400" u="sng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6B2379-B622-9CF6-1D01-468BAB44A2F6}"/>
              </a:ext>
            </a:extLst>
          </p:cNvPr>
          <p:cNvCxnSpPr>
            <a:cxnSpLocks/>
          </p:cNvCxnSpPr>
          <p:nvPr/>
        </p:nvCxnSpPr>
        <p:spPr>
          <a:xfrm flipH="1">
            <a:off x="9517998" y="8465647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10A52B-F17C-33B6-E8C5-494E62DF3D4E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7520558" y="6685878"/>
            <a:ext cx="644659" cy="501559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118B6A6-8F78-322D-34FE-5319325312A2}"/>
              </a:ext>
            </a:extLst>
          </p:cNvPr>
          <p:cNvCxnSpPr>
            <a:cxnSpLocks/>
            <a:stCxn id="14" idx="6"/>
          </p:cNvCxnSpPr>
          <p:nvPr/>
        </p:nvCxnSpPr>
        <p:spPr>
          <a:xfrm flipV="1">
            <a:off x="7520558" y="6094973"/>
            <a:ext cx="644658" cy="59090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loud 47">
            <a:extLst>
              <a:ext uri="{FF2B5EF4-FFF2-40B4-BE49-F238E27FC236}">
                <a16:creationId xmlns:a16="http://schemas.microsoft.com/office/drawing/2014/main" id="{4109000F-EA56-2549-F439-8AD41888C42B}"/>
              </a:ext>
            </a:extLst>
          </p:cNvPr>
          <p:cNvSpPr/>
          <p:nvPr/>
        </p:nvSpPr>
        <p:spPr>
          <a:xfrm>
            <a:off x="15368383" y="4496534"/>
            <a:ext cx="3431059" cy="87660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 num_pizza_each…</a:t>
            </a:r>
          </a:p>
        </p:txBody>
      </p:sp>
      <p:sp>
        <p:nvSpPr>
          <p:cNvPr id="49" name="Cloud 48">
            <a:extLst>
              <a:ext uri="{FF2B5EF4-FFF2-40B4-BE49-F238E27FC236}">
                <a16:creationId xmlns:a16="http://schemas.microsoft.com/office/drawing/2014/main" id="{70725D04-86B9-D5B8-900F-97102D3A89A4}"/>
              </a:ext>
            </a:extLst>
          </p:cNvPr>
          <p:cNvSpPr/>
          <p:nvPr/>
        </p:nvSpPr>
        <p:spPr>
          <a:xfrm>
            <a:off x="15408365" y="5643902"/>
            <a:ext cx="3431059" cy="876602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 cost_each_for_pizza</a:t>
            </a:r>
          </a:p>
        </p:txBody>
      </p:sp>
      <p:sp>
        <p:nvSpPr>
          <p:cNvPr id="52" name="Cloud 51">
            <a:extLst>
              <a:ext uri="{FF2B5EF4-FFF2-40B4-BE49-F238E27FC236}">
                <a16:creationId xmlns:a16="http://schemas.microsoft.com/office/drawing/2014/main" id="{511761F7-E10C-C560-8F29-11FFE36257A0}"/>
              </a:ext>
            </a:extLst>
          </p:cNvPr>
          <p:cNvSpPr/>
          <p:nvPr/>
        </p:nvSpPr>
        <p:spPr>
          <a:xfrm>
            <a:off x="8175622" y="5706624"/>
            <a:ext cx="2727561" cy="87660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Well, I remember 4 pizzas divided by 8 people is 1/2</a:t>
            </a:r>
            <a:endParaRPr lang="en-US" sz="1400" u="sng" dirty="0"/>
          </a:p>
        </p:txBody>
      </p:sp>
      <p:sp>
        <p:nvSpPr>
          <p:cNvPr id="53" name="Cloud 52">
            <a:extLst>
              <a:ext uri="{FF2B5EF4-FFF2-40B4-BE49-F238E27FC236}">
                <a16:creationId xmlns:a16="http://schemas.microsoft.com/office/drawing/2014/main" id="{3E08178A-4C60-30A1-4371-C79E140042CF}"/>
              </a:ext>
            </a:extLst>
          </p:cNvPr>
          <p:cNvSpPr/>
          <p:nvPr/>
        </p:nvSpPr>
        <p:spPr>
          <a:xfrm>
            <a:off x="8234376" y="6730201"/>
            <a:ext cx="2573345" cy="876602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Like the pizzas, I remember splitting the bill</a:t>
            </a:r>
            <a:endParaRPr lang="en-US" sz="1400" u="sng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37CAA7-81EB-737B-BC4C-A5EBE1C570B0}"/>
              </a:ext>
            </a:extLst>
          </p:cNvPr>
          <p:cNvSpPr txBox="1"/>
          <p:nvPr/>
        </p:nvSpPr>
        <p:spPr>
          <a:xfrm>
            <a:off x="11346712" y="6793694"/>
            <a:ext cx="1325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Chain of Thought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7F0BAF5-5E25-8450-74BA-A8AC3D731583}"/>
              </a:ext>
            </a:extLst>
          </p:cNvPr>
          <p:cNvSpPr/>
          <p:nvPr/>
        </p:nvSpPr>
        <p:spPr>
          <a:xfrm>
            <a:off x="15513795" y="6672522"/>
            <a:ext cx="3354808" cy="581297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def divide_apples(apples, people)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C4CA72F-DD2C-69C6-0B80-7346EFF6F04A}"/>
              </a:ext>
            </a:extLst>
          </p:cNvPr>
          <p:cNvSpPr/>
          <p:nvPr/>
        </p:nvSpPr>
        <p:spPr>
          <a:xfrm>
            <a:off x="15530504" y="7492387"/>
            <a:ext cx="3354808" cy="5812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u="sng" dirty="0"/>
              <a:t>&gt;&gt;&gt; divide_apples(4,2)</a:t>
            </a:r>
          </a:p>
          <a:p>
            <a:r>
              <a:rPr lang="en-US" sz="1400" u="sng" dirty="0"/>
              <a:t>&gt;&gt;&gt; 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EA3B1F8-00E1-85B6-13B1-71F1C6B33292}"/>
              </a:ext>
            </a:extLst>
          </p:cNvPr>
          <p:cNvCxnSpPr>
            <a:cxnSpLocks/>
          </p:cNvCxnSpPr>
          <p:nvPr/>
        </p:nvCxnSpPr>
        <p:spPr>
          <a:xfrm flipH="1">
            <a:off x="17135714" y="7277488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7AFF27-9ACD-12EA-13D2-166E4190C1BF}"/>
              </a:ext>
            </a:extLst>
          </p:cNvPr>
          <p:cNvSpPr txBox="1"/>
          <p:nvPr/>
        </p:nvSpPr>
        <p:spPr>
          <a:xfrm>
            <a:off x="3148216" y="7689895"/>
            <a:ext cx="2229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Chain of thought helps infer the right concept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B9429C60-6736-4673-0CDB-04F7A604236D}"/>
              </a:ext>
            </a:extLst>
          </p:cNvPr>
          <p:cNvSpPr/>
          <p:nvPr/>
        </p:nvSpPr>
        <p:spPr>
          <a:xfrm>
            <a:off x="8234376" y="7736348"/>
            <a:ext cx="2573345" cy="876602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Ah yes! We are talking about division. </a:t>
            </a:r>
            <a:endParaRPr lang="en-US" sz="1400" u="sng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F8F066F-1988-EE6F-94E2-5DF9397CC8A9}"/>
              </a:ext>
            </a:extLst>
          </p:cNvPr>
          <p:cNvSpPr/>
          <p:nvPr/>
        </p:nvSpPr>
        <p:spPr>
          <a:xfrm flipH="1">
            <a:off x="11151236" y="5887769"/>
            <a:ext cx="198995" cy="2458183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15ABDDD-1455-6555-8B26-3086229F0471}"/>
              </a:ext>
            </a:extLst>
          </p:cNvPr>
          <p:cNvSpPr/>
          <p:nvPr/>
        </p:nvSpPr>
        <p:spPr>
          <a:xfrm flipH="1">
            <a:off x="11121949" y="8487578"/>
            <a:ext cx="198994" cy="1057885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BBA41E-A3BB-29F9-0AAB-3EE560397234}"/>
              </a:ext>
            </a:extLst>
          </p:cNvPr>
          <p:cNvCxnSpPr/>
          <p:nvPr/>
        </p:nvCxnSpPr>
        <p:spPr>
          <a:xfrm>
            <a:off x="2999135" y="3726807"/>
            <a:ext cx="8900160" cy="0"/>
          </a:xfrm>
          <a:prstGeom prst="line">
            <a:avLst/>
          </a:prstGeom>
          <a:ln w="412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510742-6788-06C7-10DC-F2CCE1076D98}"/>
              </a:ext>
            </a:extLst>
          </p:cNvPr>
          <p:cNvSpPr txBox="1"/>
          <p:nvPr/>
        </p:nvSpPr>
        <p:spPr>
          <a:xfrm>
            <a:off x="11444437" y="5196697"/>
            <a:ext cx="132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5FD242-98D4-E6D3-F4C5-9C6B8D51EE0D}"/>
              </a:ext>
            </a:extLst>
          </p:cNvPr>
          <p:cNvSpPr txBox="1"/>
          <p:nvPr/>
        </p:nvSpPr>
        <p:spPr>
          <a:xfrm>
            <a:off x="11484419" y="8738345"/>
            <a:ext cx="132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9F1E9-97F8-E3CD-A04B-5D9F15B28831}"/>
              </a:ext>
            </a:extLst>
          </p:cNvPr>
          <p:cNvSpPr txBox="1"/>
          <p:nvPr/>
        </p:nvSpPr>
        <p:spPr>
          <a:xfrm>
            <a:off x="5706661" y="449469"/>
            <a:ext cx="23848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Training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384679-2C8C-664A-8E02-642C0A3DA610}"/>
              </a:ext>
            </a:extLst>
          </p:cNvPr>
          <p:cNvSpPr txBox="1"/>
          <p:nvPr/>
        </p:nvSpPr>
        <p:spPr>
          <a:xfrm>
            <a:off x="5745254" y="3916651"/>
            <a:ext cx="23848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Inference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718287-2CAA-C821-73C3-58D0D39A321B}"/>
              </a:ext>
            </a:extLst>
          </p:cNvPr>
          <p:cNvSpPr txBox="1"/>
          <p:nvPr/>
        </p:nvSpPr>
        <p:spPr>
          <a:xfrm>
            <a:off x="11346712" y="622057"/>
            <a:ext cx="2449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co-occurs much </a:t>
            </a:r>
          </a:p>
        </p:txBody>
      </p:sp>
    </p:spTree>
    <p:extLst>
      <p:ext uri="{BB962C8B-B14F-4D97-AF65-F5344CB8AC3E}">
        <p14:creationId xmlns:p14="http://schemas.microsoft.com/office/powerpoint/2010/main" val="245594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tGPT - Wikipedia">
            <a:extLst>
              <a:ext uri="{FF2B5EF4-FFF2-40B4-BE49-F238E27FC236}">
                <a16:creationId xmlns:a16="http://schemas.microsoft.com/office/drawing/2014/main" id="{E9AE4B4C-5FDD-6826-F87E-0776899F2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18" y="443497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hatGPT - Wikipedia">
            <a:extLst>
              <a:ext uri="{FF2B5EF4-FFF2-40B4-BE49-F238E27FC236}">
                <a16:creationId xmlns:a16="http://schemas.microsoft.com/office/drawing/2014/main" id="{7EB189C7-328B-92DC-F6F0-49B1BE128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18" y="3313745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wift fun fact #1: You can use emoji ...">
            <a:extLst>
              <a:ext uri="{FF2B5EF4-FFF2-40B4-BE49-F238E27FC236}">
                <a16:creationId xmlns:a16="http://schemas.microsoft.com/office/drawing/2014/main" id="{590786F3-E751-0F65-6BD5-0CAC5C8AB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306" y="3110496"/>
            <a:ext cx="3187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99D562-8E1C-29A0-406F-3DE2E91A9AAA}"/>
              </a:ext>
            </a:extLst>
          </p:cNvPr>
          <p:cNvCxnSpPr>
            <a:stCxn id="1026" idx="3"/>
          </p:cNvCxnSpPr>
          <p:nvPr/>
        </p:nvCxnSpPr>
        <p:spPr>
          <a:xfrm flipV="1">
            <a:off x="3103521" y="1516598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4189FF-3022-E654-BAFC-7A3F4CAA5256}"/>
              </a:ext>
            </a:extLst>
          </p:cNvPr>
          <p:cNvCxnSpPr/>
          <p:nvPr/>
        </p:nvCxnSpPr>
        <p:spPr>
          <a:xfrm flipV="1">
            <a:off x="3056481" y="4421430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hatGPT - Wikipedia">
            <a:extLst>
              <a:ext uri="{FF2B5EF4-FFF2-40B4-BE49-F238E27FC236}">
                <a16:creationId xmlns:a16="http://schemas.microsoft.com/office/drawing/2014/main" id="{B4FA6321-F8F8-742B-BEF6-E0D5AFC59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18" y="6759965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Swift fun fact #1: You can use emoji ...">
            <a:extLst>
              <a:ext uri="{FF2B5EF4-FFF2-40B4-BE49-F238E27FC236}">
                <a16:creationId xmlns:a16="http://schemas.microsoft.com/office/drawing/2014/main" id="{9C5307D2-F3EA-8CD2-7115-73B6DA1C9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076" y="6591300"/>
            <a:ext cx="3187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D3DC75-4C79-F063-AE3F-406D2B6FA288}"/>
              </a:ext>
            </a:extLst>
          </p:cNvPr>
          <p:cNvCxnSpPr/>
          <p:nvPr/>
        </p:nvCxnSpPr>
        <p:spPr>
          <a:xfrm flipV="1">
            <a:off x="3056481" y="7867650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40D725-7F67-5744-FB31-4D456333122E}"/>
              </a:ext>
            </a:extLst>
          </p:cNvPr>
          <p:cNvCxnSpPr/>
          <p:nvPr/>
        </p:nvCxnSpPr>
        <p:spPr>
          <a:xfrm flipV="1">
            <a:off x="8354349" y="1516598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ChatGPT from OpenAI is a huge step ...">
            <a:extLst>
              <a:ext uri="{FF2B5EF4-FFF2-40B4-BE49-F238E27FC236}">
                <a16:creationId xmlns:a16="http://schemas.microsoft.com/office/drawing/2014/main" id="{D672DE6D-A0F1-418A-C378-AA5CF9652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461" y="443497"/>
            <a:ext cx="34671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20839935-78E5-F569-547A-9170AD738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764" y="734348"/>
            <a:ext cx="3687717" cy="158465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CA4298-884D-079E-8876-F0141CF94150}"/>
              </a:ext>
            </a:extLst>
          </p:cNvPr>
          <p:cNvCxnSpPr/>
          <p:nvPr/>
        </p:nvCxnSpPr>
        <p:spPr>
          <a:xfrm flipV="1">
            <a:off x="8354349" y="4524740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9F4C61-4348-8B99-85A1-5E57D887AACD}"/>
              </a:ext>
            </a:extLst>
          </p:cNvPr>
          <p:cNvCxnSpPr>
            <a:cxnSpLocks/>
          </p:cNvCxnSpPr>
          <p:nvPr/>
        </p:nvCxnSpPr>
        <p:spPr>
          <a:xfrm>
            <a:off x="12540499" y="7839882"/>
            <a:ext cx="1419342" cy="0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🛠️ Hammer And Wrench Emoji: Meaning &amp; Usage">
            <a:extLst>
              <a:ext uri="{FF2B5EF4-FFF2-40B4-BE49-F238E27FC236}">
                <a16:creationId xmlns:a16="http://schemas.microsoft.com/office/drawing/2014/main" id="{30D6E682-6221-56ED-1A9D-AD165CCD8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509" y="6794548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ChatGPT from OpenAI is a huge step ...">
            <a:extLst>
              <a:ext uri="{FF2B5EF4-FFF2-40B4-BE49-F238E27FC236}">
                <a16:creationId xmlns:a16="http://schemas.microsoft.com/office/drawing/2014/main" id="{CC491A96-8054-9A5F-C631-9B73A7F51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461" y="3326396"/>
            <a:ext cx="34671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C41CBA-6255-2E2B-0663-D06442A5042A}"/>
              </a:ext>
            </a:extLst>
          </p:cNvPr>
          <p:cNvCxnSpPr/>
          <p:nvPr/>
        </p:nvCxnSpPr>
        <p:spPr>
          <a:xfrm flipV="1">
            <a:off x="8296481" y="7833065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10" descr="ChatGPT from OpenAI is a huge step ...">
            <a:extLst>
              <a:ext uri="{FF2B5EF4-FFF2-40B4-BE49-F238E27FC236}">
                <a16:creationId xmlns:a16="http://schemas.microsoft.com/office/drawing/2014/main" id="{6604680A-C0E6-CB62-1EC0-15DE30BB6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9841" y="6569368"/>
            <a:ext cx="34671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68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6A90472D-091D-84D1-2596-38FFE019B247}"/>
              </a:ext>
            </a:extLst>
          </p:cNvPr>
          <p:cNvSpPr/>
          <p:nvPr/>
        </p:nvSpPr>
        <p:spPr>
          <a:xfrm>
            <a:off x="7222440" y="3476335"/>
            <a:ext cx="1278812" cy="126038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CoT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6B4738-AFD4-BA81-1C78-2401EA238B2C}"/>
              </a:ext>
            </a:extLst>
          </p:cNvPr>
          <p:cNvSpPr/>
          <p:nvPr/>
        </p:nvSpPr>
        <p:spPr>
          <a:xfrm>
            <a:off x="12030249" y="3445764"/>
            <a:ext cx="1320835" cy="126038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Answer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E5266D-878A-D785-9BBE-EAE0821FCAD9}"/>
              </a:ext>
            </a:extLst>
          </p:cNvPr>
          <p:cNvCxnSpPr/>
          <p:nvPr/>
        </p:nvCxnSpPr>
        <p:spPr>
          <a:xfrm>
            <a:off x="10364598" y="4092076"/>
            <a:ext cx="1665651" cy="0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326B640-83B8-F92F-B8DC-9624343ACF30}"/>
              </a:ext>
            </a:extLst>
          </p:cNvPr>
          <p:cNvSpPr/>
          <p:nvPr/>
        </p:nvSpPr>
        <p:spPr>
          <a:xfrm>
            <a:off x="7222439" y="1586459"/>
            <a:ext cx="1320835" cy="126038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NL CoT</a:t>
            </a:r>
            <a:endParaRPr lang="en-US" sz="160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CCC858-EE0F-C1DF-9F21-485514CDAC8E}"/>
              </a:ext>
            </a:extLst>
          </p:cNvPr>
          <p:cNvSpPr/>
          <p:nvPr/>
        </p:nvSpPr>
        <p:spPr>
          <a:xfrm>
            <a:off x="12030249" y="1555888"/>
            <a:ext cx="1297833" cy="126038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Answer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521B81-D21F-A6C4-7CC4-75C67C02C249}"/>
              </a:ext>
            </a:extLst>
          </p:cNvPr>
          <p:cNvCxnSpPr/>
          <p:nvPr/>
        </p:nvCxnSpPr>
        <p:spPr>
          <a:xfrm>
            <a:off x="10364598" y="2202200"/>
            <a:ext cx="1665651" cy="0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54586F6-4647-1F41-1AC5-048CFC5CCA8A}"/>
              </a:ext>
            </a:extLst>
          </p:cNvPr>
          <p:cNvSpPr/>
          <p:nvPr/>
        </p:nvSpPr>
        <p:spPr>
          <a:xfrm>
            <a:off x="7222440" y="5350090"/>
            <a:ext cx="1278812" cy="126038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CoT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44565E0-FD86-2C0C-32C7-45A09B41400C}"/>
              </a:ext>
            </a:extLst>
          </p:cNvPr>
          <p:cNvSpPr/>
          <p:nvPr/>
        </p:nvSpPr>
        <p:spPr>
          <a:xfrm>
            <a:off x="12030249" y="5319519"/>
            <a:ext cx="1320835" cy="126038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Answer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C5A417-1E6A-E8AD-E20E-43D69EDDDB7D}"/>
              </a:ext>
            </a:extLst>
          </p:cNvPr>
          <p:cNvCxnSpPr/>
          <p:nvPr/>
        </p:nvCxnSpPr>
        <p:spPr>
          <a:xfrm>
            <a:off x="10364598" y="5965831"/>
            <a:ext cx="1665651" cy="0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2F017D-F22D-3F91-04C5-22F5850357FF}"/>
                  </a:ext>
                </a:extLst>
              </p:cNvPr>
              <p:cNvSpPr txBox="1"/>
              <p:nvPr/>
            </p:nvSpPr>
            <p:spPr>
              <a:xfrm>
                <a:off x="6982003" y="1198390"/>
                <a:ext cx="1689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2F017D-F22D-3F91-04C5-22F585035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003" y="1198390"/>
                <a:ext cx="168918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7ACF63-05F9-72EC-D384-DD801E1F426E}"/>
                  </a:ext>
                </a:extLst>
              </p:cNvPr>
              <p:cNvSpPr txBox="1"/>
              <p:nvPr/>
            </p:nvSpPr>
            <p:spPr>
              <a:xfrm>
                <a:off x="6977650" y="3097905"/>
                <a:ext cx="1905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𝐶𝑜𝑑𝑒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7ACF63-05F9-72EC-D384-DD801E1F4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650" y="3097905"/>
                <a:ext cx="19059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6C84E8-EE99-DEB1-FECF-F91960EC3566}"/>
                  </a:ext>
                </a:extLst>
              </p:cNvPr>
              <p:cNvSpPr txBox="1"/>
              <p:nvPr/>
            </p:nvSpPr>
            <p:spPr>
              <a:xfrm>
                <a:off x="11444087" y="4701259"/>
                <a:ext cx="1340333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𝐶𝑜𝑑𝑒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𝑆𝑜𝑙𝑣𝑒𝑟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6C84E8-EE99-DEB1-FECF-F91960EC3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4087" y="4701259"/>
                <a:ext cx="1340333" cy="639983"/>
              </a:xfrm>
              <a:prstGeom prst="rect">
                <a:avLst/>
              </a:prstGeom>
              <a:blipFill>
                <a:blip r:embed="rId4"/>
                <a:stretch>
                  <a:fillRect r="-60748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3ABF56A1-23CE-8A09-27ED-725AC2DE050E}"/>
              </a:ext>
            </a:extLst>
          </p:cNvPr>
          <p:cNvSpPr txBox="1"/>
          <p:nvPr/>
        </p:nvSpPr>
        <p:spPr>
          <a:xfrm rot="3835291">
            <a:off x="15079213" y="3133852"/>
            <a:ext cx="1178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jump is hard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283774-BC61-5AEF-5B13-B14FA7D473B5}"/>
              </a:ext>
            </a:extLst>
          </p:cNvPr>
          <p:cNvSpPr txBox="1"/>
          <p:nvPr/>
        </p:nvSpPr>
        <p:spPr>
          <a:xfrm rot="3852531">
            <a:off x="14044005" y="2920391"/>
            <a:ext cx="1178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jump is easier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2E22E2-5095-953B-4CEA-5EB69C8D6E97}"/>
              </a:ext>
            </a:extLst>
          </p:cNvPr>
          <p:cNvSpPr txBox="1"/>
          <p:nvPr/>
        </p:nvSpPr>
        <p:spPr>
          <a:xfrm rot="3977811">
            <a:off x="13870733" y="4387741"/>
            <a:ext cx="1178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jump is easy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791942-3C43-187E-5F39-793D794DEC3D}"/>
                  </a:ext>
                </a:extLst>
              </p:cNvPr>
              <p:cNvSpPr txBox="1"/>
              <p:nvPr/>
            </p:nvSpPr>
            <p:spPr>
              <a:xfrm>
                <a:off x="6997956" y="4936258"/>
                <a:ext cx="1905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𝐶𝑜𝑑𝑒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791942-3C43-187E-5F39-793D794DE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956" y="4936258"/>
                <a:ext cx="19059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B14730F-C8DF-4AE3-7CBF-3A3FD1824262}"/>
                  </a:ext>
                </a:extLst>
              </p:cNvPr>
              <p:cNvSpPr txBox="1"/>
              <p:nvPr/>
            </p:nvSpPr>
            <p:spPr>
              <a:xfrm>
                <a:off x="11489999" y="1179410"/>
                <a:ext cx="2124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B14730F-C8DF-4AE3-7CBF-3A3FD1824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9999" y="1179410"/>
                <a:ext cx="2124171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1EAD21DD-4AB3-3225-7793-3283EFD837A0}"/>
              </a:ext>
            </a:extLst>
          </p:cNvPr>
          <p:cNvSpPr/>
          <p:nvPr/>
        </p:nvSpPr>
        <p:spPr>
          <a:xfrm>
            <a:off x="6833700" y="11599624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91562B-6A65-3DBF-3D10-4D14582C9A2C}"/>
              </a:ext>
            </a:extLst>
          </p:cNvPr>
          <p:cNvSpPr txBox="1"/>
          <p:nvPr/>
        </p:nvSpPr>
        <p:spPr>
          <a:xfrm>
            <a:off x="7113536" y="12029034"/>
            <a:ext cx="151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CoT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A5AC0BB-37D5-79BC-367E-76AD6B86A37B}"/>
              </a:ext>
            </a:extLst>
          </p:cNvPr>
          <p:cNvSpPr/>
          <p:nvPr/>
        </p:nvSpPr>
        <p:spPr>
          <a:xfrm>
            <a:off x="10476432" y="11599624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0FD90C-CA07-C76D-21BF-DF10D62DB77B}"/>
              </a:ext>
            </a:extLst>
          </p:cNvPr>
          <p:cNvSpPr txBox="1"/>
          <p:nvPr/>
        </p:nvSpPr>
        <p:spPr>
          <a:xfrm>
            <a:off x="10787862" y="12029034"/>
            <a:ext cx="166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59548C8-79CE-3986-ED9F-BF7893C29180}"/>
              </a:ext>
            </a:extLst>
          </p:cNvPr>
          <p:cNvSpPr/>
          <p:nvPr/>
        </p:nvSpPr>
        <p:spPr>
          <a:xfrm>
            <a:off x="14119164" y="11583505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5944735-EEDC-CE1E-C685-22B356C95064}"/>
              </a:ext>
            </a:extLst>
          </p:cNvPr>
          <p:cNvCxnSpPr>
            <a:stCxn id="41" idx="6"/>
            <a:endCxn id="43" idx="2"/>
          </p:cNvCxnSpPr>
          <p:nvPr/>
        </p:nvCxnSpPr>
        <p:spPr>
          <a:xfrm>
            <a:off x="8810781" y="12229819"/>
            <a:ext cx="1665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BAD6848-68AC-269A-A911-2161FE85B9D2}"/>
              </a:ext>
            </a:extLst>
          </p:cNvPr>
          <p:cNvCxnSpPr/>
          <p:nvPr/>
        </p:nvCxnSpPr>
        <p:spPr>
          <a:xfrm>
            <a:off x="12453513" y="12229817"/>
            <a:ext cx="1665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4257CD3-CFDD-99CA-99B4-9004ED5EAB7F}"/>
                  </a:ext>
                </a:extLst>
              </p:cNvPr>
              <p:cNvSpPr txBox="1"/>
              <p:nvPr/>
            </p:nvSpPr>
            <p:spPr>
              <a:xfrm>
                <a:off x="8630622" y="11178085"/>
                <a:ext cx="22486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𝑢𝑡𝑢𝑎𝑙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𝐼𝑛𝑓𝑜𝑟𝑚𝑎𝑡𝑖𝑜𝑛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4257CD3-CFDD-99CA-99B4-9004ED5EA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622" y="11178085"/>
                <a:ext cx="2248635" cy="646331"/>
              </a:xfrm>
              <a:prstGeom prst="rect">
                <a:avLst/>
              </a:prstGeom>
              <a:blipFill>
                <a:blip r:embed="rId7"/>
                <a:stretch>
                  <a:fillRect l="-1124" r="-33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50099429-620A-5892-BFE7-49363BF8F359}"/>
              </a:ext>
            </a:extLst>
          </p:cNvPr>
          <p:cNvSpPr/>
          <p:nvPr/>
        </p:nvSpPr>
        <p:spPr>
          <a:xfrm>
            <a:off x="3085568" y="11615760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B4BD55-3F1F-C90C-D178-725BD464DED6}"/>
              </a:ext>
            </a:extLst>
          </p:cNvPr>
          <p:cNvSpPr txBox="1"/>
          <p:nvPr/>
        </p:nvSpPr>
        <p:spPr>
          <a:xfrm>
            <a:off x="3372029" y="12029033"/>
            <a:ext cx="151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Pretraining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3097AEE-C30C-2C75-1CC1-B53D2C823A0E}"/>
              </a:ext>
            </a:extLst>
          </p:cNvPr>
          <p:cNvCxnSpPr/>
          <p:nvPr/>
        </p:nvCxnSpPr>
        <p:spPr>
          <a:xfrm>
            <a:off x="6336036" y="10169754"/>
            <a:ext cx="0" cy="371856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5FD32FA-5428-E0FD-B4EC-5A6CDE0F862F}"/>
              </a:ext>
            </a:extLst>
          </p:cNvPr>
          <p:cNvSpPr txBox="1"/>
          <p:nvPr/>
        </p:nvSpPr>
        <p:spPr>
          <a:xfrm>
            <a:off x="6743205" y="10567831"/>
            <a:ext cx="23848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Inference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02356A-6DF1-C277-7EEF-D24A591BAB08}"/>
              </a:ext>
            </a:extLst>
          </p:cNvPr>
          <p:cNvSpPr txBox="1"/>
          <p:nvPr/>
        </p:nvSpPr>
        <p:spPr>
          <a:xfrm>
            <a:off x="3266724" y="10636658"/>
            <a:ext cx="23848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Training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AEE3D8-ADAF-F07E-19CA-6F73ACAD54A4}"/>
              </a:ext>
            </a:extLst>
          </p:cNvPr>
          <p:cNvCxnSpPr/>
          <p:nvPr/>
        </p:nvCxnSpPr>
        <p:spPr>
          <a:xfrm>
            <a:off x="5168049" y="12213699"/>
            <a:ext cx="1665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A489645-7195-7649-B9C6-46970DFD8BAC}"/>
                  </a:ext>
                </a:extLst>
              </p:cNvPr>
              <p:cNvSpPr txBox="1"/>
              <p:nvPr/>
            </p:nvSpPr>
            <p:spPr>
              <a:xfrm>
                <a:off x="1218902" y="12974894"/>
                <a:ext cx="5779054" cy="11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𝑜𝑐𝑐𝑢𝑟𝑠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𝑚𝑢𝑐h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h𝑖𝑔h𝑒𝑟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𝑎𝑙𝑔𝑜𝑟𝑖𝑡h𝑚𝑖𝑐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𝑠𝑒𝑚𝑎𝑛𝑡𝑖𝑐𝑠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𝑐𝑜𝑑𝑒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A489645-7195-7649-B9C6-46970DFD8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902" y="12974894"/>
                <a:ext cx="5779054" cy="11939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ABD021-AF32-7899-2BE5-DC8716888DEB}"/>
                  </a:ext>
                </a:extLst>
              </p:cNvPr>
              <p:cNvSpPr txBox="1"/>
              <p:nvPr/>
            </p:nvSpPr>
            <p:spPr>
              <a:xfrm>
                <a:off x="6652189" y="12876149"/>
                <a:ext cx="22486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ABD021-AF32-7899-2BE5-DC8716888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189" y="12876149"/>
                <a:ext cx="2248635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3F20CC-DDC3-60B5-DE66-F60712BD1314}"/>
                  </a:ext>
                </a:extLst>
              </p:cNvPr>
              <p:cNvSpPr txBox="1"/>
              <p:nvPr/>
            </p:nvSpPr>
            <p:spPr>
              <a:xfrm>
                <a:off x="10340654" y="12863998"/>
                <a:ext cx="22486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3F20CC-DDC3-60B5-DE66-F60712BD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0654" y="12863998"/>
                <a:ext cx="2248635" cy="707886"/>
              </a:xfrm>
              <a:prstGeom prst="rect">
                <a:avLst/>
              </a:prstGeom>
              <a:blipFill>
                <a:blip r:embed="rId10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C9B277-E4B1-F9A8-5DCA-F919EAB74144}"/>
                  </a:ext>
                </a:extLst>
              </p:cNvPr>
              <p:cNvSpPr txBox="1"/>
              <p:nvPr/>
            </p:nvSpPr>
            <p:spPr>
              <a:xfrm>
                <a:off x="14029119" y="12959103"/>
                <a:ext cx="22486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C9B277-E4B1-F9A8-5DCA-F919EAB74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9119" y="12959103"/>
                <a:ext cx="2248635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A710DD76-B823-4BA3-65B9-DE0D0EA0B140}"/>
              </a:ext>
            </a:extLst>
          </p:cNvPr>
          <p:cNvSpPr/>
          <p:nvPr/>
        </p:nvSpPr>
        <p:spPr>
          <a:xfrm>
            <a:off x="9033557" y="1555888"/>
            <a:ext cx="1278812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Concept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4064C5-01F8-0E3B-E27A-0AB0AE7A521B}"/>
              </a:ext>
            </a:extLst>
          </p:cNvPr>
          <p:cNvSpPr/>
          <p:nvPr/>
        </p:nvSpPr>
        <p:spPr>
          <a:xfrm>
            <a:off x="9045897" y="3485146"/>
            <a:ext cx="1332228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Concept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6123108-B113-6A75-FACB-E6BABBE29E55}"/>
              </a:ext>
            </a:extLst>
          </p:cNvPr>
          <p:cNvSpPr/>
          <p:nvPr/>
        </p:nvSpPr>
        <p:spPr>
          <a:xfrm>
            <a:off x="9033556" y="5350090"/>
            <a:ext cx="1278812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Concept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D0A1D3-2F57-25B6-7CF9-BF766127EC92}"/>
              </a:ext>
            </a:extLst>
          </p:cNvPr>
          <p:cNvSpPr txBox="1"/>
          <p:nvPr/>
        </p:nvSpPr>
        <p:spPr>
          <a:xfrm>
            <a:off x="5197290" y="761922"/>
            <a:ext cx="26634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Stage (1): Translate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0D578C-3770-3068-863E-2DC5B52B0533}"/>
              </a:ext>
            </a:extLst>
          </p:cNvPr>
          <p:cNvSpPr txBox="1"/>
          <p:nvPr/>
        </p:nvSpPr>
        <p:spPr>
          <a:xfrm>
            <a:off x="10312368" y="680355"/>
            <a:ext cx="250331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Stage (2): Execute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C01EB22-3211-E607-FA72-6BCCDDE95906}"/>
              </a:ext>
            </a:extLst>
          </p:cNvPr>
          <p:cNvCxnSpPr>
            <a:cxnSpLocks/>
          </p:cNvCxnSpPr>
          <p:nvPr/>
        </p:nvCxnSpPr>
        <p:spPr>
          <a:xfrm>
            <a:off x="8558221" y="2202200"/>
            <a:ext cx="485163" cy="0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081408-F614-013F-FA95-5F154165FF2A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8501252" y="4106530"/>
            <a:ext cx="576402" cy="0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85BB0B4-C160-4A63-38A7-973433832D23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8501252" y="5980285"/>
            <a:ext cx="542132" cy="0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15EA6980-A28B-D4C1-5006-E2EC43BF0C4C}"/>
              </a:ext>
            </a:extLst>
          </p:cNvPr>
          <p:cNvSpPr/>
          <p:nvPr/>
        </p:nvSpPr>
        <p:spPr>
          <a:xfrm>
            <a:off x="3842201" y="3460216"/>
            <a:ext cx="1278812" cy="126038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NL input</a:t>
            </a:r>
            <a:endParaRPr lang="en-US" sz="160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3C2FCF5-41B8-A0D7-3ACF-384E2697A3A9}"/>
              </a:ext>
            </a:extLst>
          </p:cNvPr>
          <p:cNvCxnSpPr>
            <a:cxnSpLocks/>
            <a:stCxn id="63" idx="6"/>
          </p:cNvCxnSpPr>
          <p:nvPr/>
        </p:nvCxnSpPr>
        <p:spPr>
          <a:xfrm flipV="1">
            <a:off x="5121013" y="2216653"/>
            <a:ext cx="2075035" cy="1873758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FFC3BDA-00A0-DF5A-6B9B-25D22D2AC8D2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5121013" y="4090411"/>
            <a:ext cx="2114924" cy="1889873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0DBC427-E5F7-1958-0D2B-41C1282F1EE9}"/>
              </a:ext>
            </a:extLst>
          </p:cNvPr>
          <p:cNvCxnSpPr>
            <a:cxnSpLocks/>
            <a:stCxn id="63" idx="6"/>
          </p:cNvCxnSpPr>
          <p:nvPr/>
        </p:nvCxnSpPr>
        <p:spPr>
          <a:xfrm flipV="1">
            <a:off x="5121013" y="4090410"/>
            <a:ext cx="2131649" cy="1"/>
          </a:xfrm>
          <a:prstGeom prst="straightConnector1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D78197A-AC7B-81B7-2FB2-CFA806EFF8E6}"/>
              </a:ext>
            </a:extLst>
          </p:cNvPr>
          <p:cNvSpPr txBox="1"/>
          <p:nvPr/>
        </p:nvSpPr>
        <p:spPr>
          <a:xfrm rot="18991781">
            <a:off x="5082078" y="3069721"/>
            <a:ext cx="1310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(i) First Arm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FED6B5-4DA5-4EB3-2316-F741EC02A880}"/>
              </a:ext>
            </a:extLst>
          </p:cNvPr>
          <p:cNvSpPr txBox="1"/>
          <p:nvPr/>
        </p:nvSpPr>
        <p:spPr>
          <a:xfrm>
            <a:off x="5388561" y="3719687"/>
            <a:ext cx="1617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(ii) Second Arm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D57F36-4FA1-C819-147F-617295D37D46}"/>
              </a:ext>
            </a:extLst>
          </p:cNvPr>
          <p:cNvSpPr txBox="1"/>
          <p:nvPr/>
        </p:nvSpPr>
        <p:spPr>
          <a:xfrm rot="2505766">
            <a:off x="5239544" y="4424105"/>
            <a:ext cx="148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(iii) Third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E54BD63-DF7A-2B45-D987-1D2A3E87EECC}"/>
                  </a:ext>
                </a:extLst>
              </p:cNvPr>
              <p:cNvSpPr txBox="1"/>
              <p:nvPr/>
            </p:nvSpPr>
            <p:spPr>
              <a:xfrm>
                <a:off x="6737528" y="6783611"/>
                <a:ext cx="22486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E54BD63-DF7A-2B45-D987-1D2A3E87E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528" y="6783611"/>
                <a:ext cx="2248635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1F81F92-C6DB-4167-DAD4-720271C992DB}"/>
                  </a:ext>
                </a:extLst>
              </p:cNvPr>
              <p:cNvSpPr txBox="1"/>
              <p:nvPr/>
            </p:nvSpPr>
            <p:spPr>
              <a:xfrm>
                <a:off x="8583039" y="6722168"/>
                <a:ext cx="22486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1F81F92-C6DB-4167-DAD4-720271C9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039" y="6722168"/>
                <a:ext cx="2248635" cy="707886"/>
              </a:xfrm>
              <a:prstGeom prst="rect">
                <a:avLst/>
              </a:prstGeom>
              <a:blipFill>
                <a:blip r:embed="rId1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2695CD4-8E38-4976-23F4-ACF1E9B0548D}"/>
                  </a:ext>
                </a:extLst>
              </p:cNvPr>
              <p:cNvSpPr txBox="1"/>
              <p:nvPr/>
            </p:nvSpPr>
            <p:spPr>
              <a:xfrm>
                <a:off x="11620687" y="6780691"/>
                <a:ext cx="22486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2695CD4-8E38-4976-23F4-ACF1E9B05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687" y="6780691"/>
                <a:ext cx="2248635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BED37FB-4D1E-D7A6-C59B-F6CAB95215EC}"/>
                  </a:ext>
                </a:extLst>
              </p:cNvPr>
              <p:cNvSpPr txBox="1"/>
              <p:nvPr/>
            </p:nvSpPr>
            <p:spPr>
              <a:xfrm>
                <a:off x="3295289" y="4704486"/>
                <a:ext cx="22486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BED37FB-4D1E-D7A6-C59B-F6CAB952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289" y="4704486"/>
                <a:ext cx="2248635" cy="707886"/>
              </a:xfrm>
              <a:prstGeom prst="rect">
                <a:avLst/>
              </a:prstGeom>
              <a:blipFill>
                <a:blip r:embed="rId15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FF78D91-80E0-04A4-09BD-026959431811}"/>
                  </a:ext>
                </a:extLst>
              </p:cNvPr>
              <p:cNvSpPr txBox="1"/>
              <p:nvPr/>
            </p:nvSpPr>
            <p:spPr>
              <a:xfrm>
                <a:off x="11381635" y="3074353"/>
                <a:ext cx="2340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𝐶𝑜𝑑𝑒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FF78D91-80E0-04A4-09BD-02695943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635" y="3074353"/>
                <a:ext cx="2340897" cy="369332"/>
              </a:xfrm>
              <a:prstGeom prst="rect">
                <a:avLst/>
              </a:prstGeom>
              <a:blipFill>
                <a:blip r:embed="rId1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0128CBB-596C-B388-841E-B0B19E1DFF0A}"/>
                  </a:ext>
                </a:extLst>
              </p:cNvPr>
              <p:cNvSpPr txBox="1"/>
              <p:nvPr/>
            </p:nvSpPr>
            <p:spPr>
              <a:xfrm>
                <a:off x="8983704" y="3087686"/>
                <a:ext cx="2120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𝐶𝑜𝑑𝑒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0128CBB-596C-B388-841E-B0B19E1DF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704" y="3087686"/>
                <a:ext cx="2120517" cy="369332"/>
              </a:xfrm>
              <a:prstGeom prst="rect">
                <a:avLst/>
              </a:prstGeom>
              <a:blipFill>
                <a:blip r:embed="rId1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5A74663-3D8E-4DF2-4567-480C2EF1D2DB}"/>
                  </a:ext>
                </a:extLst>
              </p:cNvPr>
              <p:cNvSpPr txBox="1"/>
              <p:nvPr/>
            </p:nvSpPr>
            <p:spPr>
              <a:xfrm>
                <a:off x="8763855" y="1173179"/>
                <a:ext cx="2120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𝐶𝑜𝑑𝑒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5A74663-3D8E-4DF2-4567-480C2EF1D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855" y="1173179"/>
                <a:ext cx="2120517" cy="369332"/>
              </a:xfrm>
              <a:prstGeom prst="rect">
                <a:avLst/>
              </a:prstGeom>
              <a:blipFill>
                <a:blip r:embed="rId1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ABAA31E-C7FB-D603-0D32-34E5065DCCDD}"/>
                  </a:ext>
                </a:extLst>
              </p:cNvPr>
              <p:cNvSpPr txBox="1"/>
              <p:nvPr/>
            </p:nvSpPr>
            <p:spPr>
              <a:xfrm>
                <a:off x="8983704" y="4938258"/>
                <a:ext cx="2120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𝐶𝑜𝑑𝑒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ABAA31E-C7FB-D603-0D32-34E5065DC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704" y="4938258"/>
                <a:ext cx="2120517" cy="369332"/>
              </a:xfrm>
              <a:prstGeom prst="rect">
                <a:avLst/>
              </a:prstGeom>
              <a:blipFill>
                <a:blip r:embed="rId19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5E2836E8-AA6B-2E32-6500-CAAC43005FAE}"/>
              </a:ext>
            </a:extLst>
          </p:cNvPr>
          <p:cNvSpPr txBox="1"/>
          <p:nvPr/>
        </p:nvSpPr>
        <p:spPr>
          <a:xfrm>
            <a:off x="14125316" y="679704"/>
            <a:ext cx="175080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C55A8E5-23B4-581B-3734-D3E92DD2D5C9}"/>
              </a:ext>
            </a:extLst>
          </p:cNvPr>
          <p:cNvCxnSpPr>
            <a:cxnSpLocks/>
          </p:cNvCxnSpPr>
          <p:nvPr/>
        </p:nvCxnSpPr>
        <p:spPr>
          <a:xfrm>
            <a:off x="13640719" y="761922"/>
            <a:ext cx="0" cy="6567566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urved Connector 103">
            <a:extLst>
              <a:ext uri="{FF2B5EF4-FFF2-40B4-BE49-F238E27FC236}">
                <a16:creationId xmlns:a16="http://schemas.microsoft.com/office/drawing/2014/main" id="{5102CA94-590C-A5F4-ED8D-D2FD4A568BEA}"/>
              </a:ext>
            </a:extLst>
          </p:cNvPr>
          <p:cNvCxnSpPr>
            <a:cxnSpLocks/>
          </p:cNvCxnSpPr>
          <p:nvPr/>
        </p:nvCxnSpPr>
        <p:spPr>
          <a:xfrm>
            <a:off x="13664422" y="2186083"/>
            <a:ext cx="23002" cy="1889876"/>
          </a:xfrm>
          <a:prstGeom prst="curvedConnector3">
            <a:avLst>
              <a:gd name="adj1" fmla="val 2286419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21EEC0ED-9E08-A0CC-2921-33BA3E174CAB}"/>
              </a:ext>
            </a:extLst>
          </p:cNvPr>
          <p:cNvCxnSpPr>
            <a:cxnSpLocks/>
          </p:cNvCxnSpPr>
          <p:nvPr/>
        </p:nvCxnSpPr>
        <p:spPr>
          <a:xfrm>
            <a:off x="13687424" y="4075959"/>
            <a:ext cx="12700" cy="1873755"/>
          </a:xfrm>
          <a:prstGeom prst="curvedConnector3">
            <a:avLst>
              <a:gd name="adj1" fmla="val 336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urved Connector 110">
            <a:extLst>
              <a:ext uri="{FF2B5EF4-FFF2-40B4-BE49-F238E27FC236}">
                <a16:creationId xmlns:a16="http://schemas.microsoft.com/office/drawing/2014/main" id="{DE76A745-3B2C-9D5C-B585-A6068A3C57B9}"/>
              </a:ext>
            </a:extLst>
          </p:cNvPr>
          <p:cNvCxnSpPr>
            <a:cxnSpLocks/>
          </p:cNvCxnSpPr>
          <p:nvPr/>
        </p:nvCxnSpPr>
        <p:spPr>
          <a:xfrm>
            <a:off x="13664422" y="2186083"/>
            <a:ext cx="23002" cy="3763631"/>
          </a:xfrm>
          <a:prstGeom prst="curvedConnector3">
            <a:avLst>
              <a:gd name="adj1" fmla="val 7785593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CF2FDED-4EBC-31CD-0867-66FCB24BA1CD}"/>
              </a:ext>
            </a:extLst>
          </p:cNvPr>
          <p:cNvCxnSpPr>
            <a:cxnSpLocks/>
          </p:cNvCxnSpPr>
          <p:nvPr/>
        </p:nvCxnSpPr>
        <p:spPr>
          <a:xfrm flipH="1">
            <a:off x="3347047" y="1188608"/>
            <a:ext cx="13508966" cy="1619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01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17E4B5-0616-F2DE-136A-CC5EA1C8BD2A}"/>
              </a:ext>
            </a:extLst>
          </p:cNvPr>
          <p:cNvSpPr/>
          <p:nvPr/>
        </p:nvSpPr>
        <p:spPr>
          <a:xfrm>
            <a:off x="3339427" y="11515350"/>
            <a:ext cx="4094922" cy="2018112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B26E1D-B074-5FE5-151B-FD7632F02FA6}"/>
              </a:ext>
            </a:extLst>
          </p:cNvPr>
          <p:cNvSpPr/>
          <p:nvPr/>
        </p:nvSpPr>
        <p:spPr>
          <a:xfrm>
            <a:off x="3684794" y="11737983"/>
            <a:ext cx="1071248" cy="107124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64287A-93D0-36AA-307B-08BDA747EA89}"/>
              </a:ext>
            </a:extLst>
          </p:cNvPr>
          <p:cNvSpPr/>
          <p:nvPr/>
        </p:nvSpPr>
        <p:spPr>
          <a:xfrm>
            <a:off x="6015776" y="11746394"/>
            <a:ext cx="1071248" cy="107124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6C3A2E-95EA-5442-ED65-96F3635A46EA}"/>
              </a:ext>
            </a:extLst>
          </p:cNvPr>
          <p:cNvSpPr/>
          <p:nvPr/>
        </p:nvSpPr>
        <p:spPr>
          <a:xfrm>
            <a:off x="9185814" y="11694057"/>
            <a:ext cx="1094618" cy="109461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3094B-3731-F4AD-4EBC-950A28D04359}"/>
              </a:ext>
            </a:extLst>
          </p:cNvPr>
          <p:cNvSpPr txBox="1"/>
          <p:nvPr/>
        </p:nvSpPr>
        <p:spPr>
          <a:xfrm>
            <a:off x="4220817" y="1915911"/>
            <a:ext cx="360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Language Models + HMM Dual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D4FC7-C904-8F30-EB5B-E7C8B2CB024D}"/>
              </a:ext>
            </a:extLst>
          </p:cNvPr>
          <p:cNvSpPr txBox="1"/>
          <p:nvPr/>
        </p:nvSpPr>
        <p:spPr>
          <a:xfrm>
            <a:off x="9627705" y="1895275"/>
            <a:ext cx="2630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External Utility Estimator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(Plug and Play)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AB61A-6316-30C5-5E1D-ED5C7018952B}"/>
              </a:ext>
            </a:extLst>
          </p:cNvPr>
          <p:cNvSpPr txBox="1"/>
          <p:nvPr/>
        </p:nvSpPr>
        <p:spPr>
          <a:xfrm>
            <a:off x="2620982" y="5689396"/>
            <a:ext cx="8212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Autoregressive LLM Inference of generating code for tool X, given constraint 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27ADE3-D712-8872-F657-A7238A84A9C6}"/>
              </a:ext>
            </a:extLst>
          </p:cNvPr>
          <p:cNvSpPr txBox="1"/>
          <p:nvPr/>
        </p:nvSpPr>
        <p:spPr>
          <a:xfrm>
            <a:off x="4341860" y="11017156"/>
            <a:ext cx="294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Automatic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3FF4D-B190-ECBF-359A-483C54B9F1B0}"/>
              </a:ext>
            </a:extLst>
          </p:cNvPr>
          <p:cNvSpPr txBox="1"/>
          <p:nvPr/>
        </p:nvSpPr>
        <p:spPr>
          <a:xfrm>
            <a:off x="8888634" y="11078048"/>
            <a:ext cx="264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Human-in-loop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4AFF34-BB21-F000-70A8-A6DBA54898EA}"/>
              </a:ext>
            </a:extLst>
          </p:cNvPr>
          <p:cNvSpPr txBox="1"/>
          <p:nvPr/>
        </p:nvSpPr>
        <p:spPr>
          <a:xfrm>
            <a:off x="8414060" y="12906535"/>
            <a:ext cx="3732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Tractable Probabilistic Circuit: </a:t>
            </a:r>
          </a:p>
          <a:p>
            <a:r>
              <a:rPr lang="en-US" dirty="0"/>
              <a:t>Assigns probability 0 to unsatisfiable constraints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25655-98E1-86F0-BE9F-373A5AB4D009}"/>
              </a:ext>
            </a:extLst>
          </p:cNvPr>
          <p:cNvSpPr txBox="1"/>
          <p:nvPr/>
        </p:nvSpPr>
        <p:spPr>
          <a:xfrm>
            <a:off x="3363858" y="12938093"/>
            <a:ext cx="232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 ‘A’ (e.g. ChatGPT)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5691FB-A383-B345-CF4F-97F07CB78A93}"/>
              </a:ext>
            </a:extLst>
          </p:cNvPr>
          <p:cNvSpPr txBox="1"/>
          <p:nvPr/>
        </p:nvSpPr>
        <p:spPr>
          <a:xfrm>
            <a:off x="5809467" y="12910501"/>
            <a:ext cx="1584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HMM Distilled</a:t>
            </a:r>
          </a:p>
          <a:p>
            <a:r>
              <a:rPr lang="en-US" dirty="0"/>
              <a:t>from LLM ‘A’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93C8EE-1D0D-9A06-2DB2-6E3985F061FC}"/>
              </a:ext>
            </a:extLst>
          </p:cNvPr>
          <p:cNvSpPr txBox="1"/>
          <p:nvPr/>
        </p:nvSpPr>
        <p:spPr>
          <a:xfrm>
            <a:off x="10727046" y="11746394"/>
            <a:ext cx="1825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Efficient</a:t>
            </a:r>
          </a:p>
          <a:p>
            <a:r>
              <a:rPr lang="en-US" dirty="0"/>
              <a:t>Verifiable</a:t>
            </a:r>
          </a:p>
          <a:p>
            <a:r>
              <a:rPr lang="en-US" dirty="0"/>
              <a:t>Easy to Integrate</a:t>
            </a:r>
          </a:p>
        </p:txBody>
      </p:sp>
      <p:pic>
        <p:nvPicPr>
          <p:cNvPr id="1026" name="Picture 2" descr="Green checkmark icon - Free green check mark icons">
            <a:extLst>
              <a:ext uri="{FF2B5EF4-FFF2-40B4-BE49-F238E27FC236}">
                <a16:creationId xmlns:a16="http://schemas.microsoft.com/office/drawing/2014/main" id="{EFC80290-462A-7FEB-F0D7-F7322211F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883" y="11849040"/>
            <a:ext cx="208809" cy="20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Green checkmark icon - Free green check mark icons">
            <a:extLst>
              <a:ext uri="{FF2B5EF4-FFF2-40B4-BE49-F238E27FC236}">
                <a16:creationId xmlns:a16="http://schemas.microsoft.com/office/drawing/2014/main" id="{80EF6C9D-7818-CB59-4ED1-21FC40207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237" y="12119889"/>
            <a:ext cx="208809" cy="20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Green checkmark icon - Free green check mark icons">
            <a:extLst>
              <a:ext uri="{FF2B5EF4-FFF2-40B4-BE49-F238E27FC236}">
                <a16:creationId xmlns:a16="http://schemas.microsoft.com/office/drawing/2014/main" id="{44BAB97B-ED69-DA68-DE21-EB6730F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419" y="12405919"/>
            <a:ext cx="208809" cy="20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4EA69AB-CECF-AE7E-3472-7F998325E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414" y="6035494"/>
            <a:ext cx="10433178" cy="502277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B3CED51-D331-FAA5-ECB1-BDCE6434ECF9}"/>
              </a:ext>
            </a:extLst>
          </p:cNvPr>
          <p:cNvCxnSpPr>
            <a:cxnSpLocks/>
          </p:cNvCxnSpPr>
          <p:nvPr/>
        </p:nvCxnSpPr>
        <p:spPr>
          <a:xfrm flipH="1">
            <a:off x="4599161" y="10989390"/>
            <a:ext cx="3964756" cy="9298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DDB37A1-9F42-208D-6C3C-1DE0CB32E402}"/>
              </a:ext>
            </a:extLst>
          </p:cNvPr>
          <p:cNvCxnSpPr>
            <a:cxnSpLocks/>
          </p:cNvCxnSpPr>
          <p:nvPr/>
        </p:nvCxnSpPr>
        <p:spPr>
          <a:xfrm flipH="1">
            <a:off x="6930143" y="10989390"/>
            <a:ext cx="2275459" cy="938269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1774E3-3941-5588-CC6E-002A9DA3DC04}"/>
              </a:ext>
            </a:extLst>
          </p:cNvPr>
          <p:cNvCxnSpPr>
            <a:cxnSpLocks/>
          </p:cNvCxnSpPr>
          <p:nvPr/>
        </p:nvCxnSpPr>
        <p:spPr>
          <a:xfrm flipH="1">
            <a:off x="10120129" y="10989390"/>
            <a:ext cx="1796588" cy="889354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67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rapezoid 42">
            <a:extLst>
              <a:ext uri="{FF2B5EF4-FFF2-40B4-BE49-F238E27FC236}">
                <a16:creationId xmlns:a16="http://schemas.microsoft.com/office/drawing/2014/main" id="{4246B76F-126D-EEF3-5627-DA309B3687EA}"/>
              </a:ext>
            </a:extLst>
          </p:cNvPr>
          <p:cNvSpPr/>
          <p:nvPr/>
        </p:nvSpPr>
        <p:spPr>
          <a:xfrm rot="2026172">
            <a:off x="7037933" y="5316682"/>
            <a:ext cx="1046301" cy="1582944"/>
          </a:xfrm>
          <a:prstGeom prst="trapezoid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0000"/>
              </a:gs>
              <a:gs pos="92000">
                <a:schemeClr val="accent2">
                  <a:lumMod val="56000"/>
                  <a:lumOff val="44000"/>
                  <a:alpha val="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softEdge rad="14503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1444E4-E331-6544-2AF1-608CCA0EAA54}"/>
              </a:ext>
            </a:extLst>
          </p:cNvPr>
          <p:cNvSpPr/>
          <p:nvPr/>
        </p:nvSpPr>
        <p:spPr>
          <a:xfrm>
            <a:off x="4414715" y="7996701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97A1A8-8C03-8706-6A25-5C47AEEB059C}"/>
              </a:ext>
            </a:extLst>
          </p:cNvPr>
          <p:cNvSpPr/>
          <p:nvPr/>
        </p:nvSpPr>
        <p:spPr>
          <a:xfrm>
            <a:off x="4414715" y="6876486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B337A8-5DDA-2D95-BE8C-429847014953}"/>
              </a:ext>
            </a:extLst>
          </p:cNvPr>
          <p:cNvSpPr/>
          <p:nvPr/>
        </p:nvSpPr>
        <p:spPr>
          <a:xfrm>
            <a:off x="4427744" y="5714520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7EC56E-DCB5-7DD7-61F1-668DA71F4741}"/>
              </a:ext>
            </a:extLst>
          </p:cNvPr>
          <p:cNvSpPr/>
          <p:nvPr/>
        </p:nvSpPr>
        <p:spPr>
          <a:xfrm>
            <a:off x="4414715" y="9122338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195F87-24DF-13DF-E841-04C850B47B5E}"/>
                  </a:ext>
                </a:extLst>
              </p:cNvPr>
              <p:cNvSpPr txBox="1"/>
              <p:nvPr/>
            </p:nvSpPr>
            <p:spPr>
              <a:xfrm>
                <a:off x="3712849" y="6011617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195F87-24DF-13DF-E841-04C850B4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849" y="6011617"/>
                <a:ext cx="714895" cy="477054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8DD006-F427-8762-F1E3-780041C8ABDD}"/>
                  </a:ext>
                </a:extLst>
              </p:cNvPr>
              <p:cNvSpPr txBox="1"/>
              <p:nvPr/>
            </p:nvSpPr>
            <p:spPr>
              <a:xfrm>
                <a:off x="3699820" y="7180985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8DD006-F427-8762-F1E3-780041C8A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820" y="7180985"/>
                <a:ext cx="714895" cy="477054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B4A88-3AC9-0436-D1B5-68D7FB8D85AE}"/>
                  </a:ext>
                </a:extLst>
              </p:cNvPr>
              <p:cNvSpPr txBox="1"/>
              <p:nvPr/>
            </p:nvSpPr>
            <p:spPr>
              <a:xfrm>
                <a:off x="3699820" y="8350353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B4A88-3AC9-0436-D1B5-68D7FB8D8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820" y="8350353"/>
                <a:ext cx="714895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53C8BD-5516-A333-5BB2-75E03E57D6FC}"/>
                  </a:ext>
                </a:extLst>
              </p:cNvPr>
              <p:cNvSpPr txBox="1"/>
              <p:nvPr/>
            </p:nvSpPr>
            <p:spPr>
              <a:xfrm>
                <a:off x="3675620" y="9519721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53C8BD-5516-A333-5BB2-75E03E57D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620" y="9519721"/>
                <a:ext cx="714895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B0665B5E-3FF2-8252-1C78-7E6DCF7C31C1}"/>
              </a:ext>
            </a:extLst>
          </p:cNvPr>
          <p:cNvSpPr/>
          <p:nvPr/>
        </p:nvSpPr>
        <p:spPr>
          <a:xfrm>
            <a:off x="10003322" y="7981576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40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594365B0-7A16-49E1-45CA-3D640078F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21306722">
            <a:off x="5639389" y="9162122"/>
            <a:ext cx="3658863" cy="42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6F10CD0C-81BE-F486-DCFA-7633558E5A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1497199">
            <a:off x="5514885" y="6924186"/>
            <a:ext cx="3961331" cy="41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F5A02720-25F9-1321-2A55-89CA898CA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679885">
            <a:off x="5552478" y="7749525"/>
            <a:ext cx="3585114" cy="36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0B0DC984-FDF4-FBA6-EC6F-1F9254C7BB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347703">
            <a:off x="5602076" y="8417528"/>
            <a:ext cx="3586205" cy="36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ight Arrow 33">
            <a:extLst>
              <a:ext uri="{FF2B5EF4-FFF2-40B4-BE49-F238E27FC236}">
                <a16:creationId xmlns:a16="http://schemas.microsoft.com/office/drawing/2014/main" id="{8959A089-9326-2A13-DDD9-224509EFE133}"/>
              </a:ext>
            </a:extLst>
          </p:cNvPr>
          <p:cNvSpPr/>
          <p:nvPr/>
        </p:nvSpPr>
        <p:spPr>
          <a:xfrm rot="685037">
            <a:off x="9256303" y="7905461"/>
            <a:ext cx="876444" cy="2248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3A838A57-AA28-C0BF-F105-70A6461BCEDE}"/>
              </a:ext>
            </a:extLst>
          </p:cNvPr>
          <p:cNvSpPr/>
          <p:nvPr/>
        </p:nvSpPr>
        <p:spPr>
          <a:xfrm rot="325665">
            <a:off x="9061945" y="8245730"/>
            <a:ext cx="941988" cy="2171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49D0BB91-318B-943D-0841-B7B9FFA4B03F}"/>
              </a:ext>
            </a:extLst>
          </p:cNvPr>
          <p:cNvSpPr/>
          <p:nvPr/>
        </p:nvSpPr>
        <p:spPr>
          <a:xfrm rot="20866979">
            <a:off x="9142513" y="8556299"/>
            <a:ext cx="873786" cy="2171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D0BEE8FA-EDF6-E41A-5E73-7EF72B396298}"/>
              </a:ext>
            </a:extLst>
          </p:cNvPr>
          <p:cNvSpPr/>
          <p:nvPr/>
        </p:nvSpPr>
        <p:spPr>
          <a:xfrm rot="20271043">
            <a:off x="9236813" y="8918572"/>
            <a:ext cx="907432" cy="2171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C49ED9-12AB-7C41-F264-134C03572C3B}"/>
              </a:ext>
            </a:extLst>
          </p:cNvPr>
          <p:cNvSpPr txBox="1"/>
          <p:nvPr/>
        </p:nvSpPr>
        <p:spPr>
          <a:xfrm>
            <a:off x="10210516" y="7606454"/>
            <a:ext cx="7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6BA927-8401-17ED-E279-1A4C4904C4DA}"/>
              </a:ext>
            </a:extLst>
          </p:cNvPr>
          <p:cNvSpPr txBox="1"/>
          <p:nvPr/>
        </p:nvSpPr>
        <p:spPr>
          <a:xfrm>
            <a:off x="4070244" y="4987939"/>
            <a:ext cx="1822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Tools / Entities in environment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D8C18C33-6E03-E376-32E5-56E6A81785F9}"/>
              </a:ext>
            </a:extLst>
          </p:cNvPr>
          <p:cNvSpPr/>
          <p:nvPr/>
        </p:nvSpPr>
        <p:spPr>
          <a:xfrm flipH="1">
            <a:off x="9388675" y="7591183"/>
            <a:ext cx="1855960" cy="1840454"/>
          </a:xfrm>
          <a:prstGeom prst="arc">
            <a:avLst>
              <a:gd name="adj1" fmla="val 16200000"/>
              <a:gd name="adj2" fmla="val 5442383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965644-2ABD-2166-961A-B1B84A2E174C}"/>
              </a:ext>
            </a:extLst>
          </p:cNvPr>
          <p:cNvSpPr txBox="1"/>
          <p:nvPr/>
        </p:nvSpPr>
        <p:spPr>
          <a:xfrm>
            <a:off x="9143999" y="7234846"/>
            <a:ext cx="31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reason over tools?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978766-516D-7C69-A28B-1EA3B1AB6F4A}"/>
              </a:ext>
            </a:extLst>
          </p:cNvPr>
          <p:cNvSpPr txBox="1"/>
          <p:nvPr/>
        </p:nvSpPr>
        <p:spPr>
          <a:xfrm>
            <a:off x="7283778" y="4860090"/>
            <a:ext cx="1770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Adversary Corruption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58FB8616-98F9-61B8-A88A-80C60B4E81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6529331"/>
                  </p:ext>
                </p:extLst>
              </p:nvPr>
            </p:nvGraphicFramePr>
            <p:xfrm>
              <a:off x="9229368" y="5305826"/>
              <a:ext cx="2562105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602">
                      <a:extLst>
                        <a:ext uri="{9D8B030D-6E8A-4147-A177-3AD203B41FA5}">
                          <a16:colId xmlns:a16="http://schemas.microsoft.com/office/drawing/2014/main" val="4228016024"/>
                        </a:ext>
                      </a:extLst>
                    </a:gridCol>
                    <a:gridCol w="884254">
                      <a:extLst>
                        <a:ext uri="{9D8B030D-6E8A-4147-A177-3AD203B41FA5}">
                          <a16:colId xmlns:a16="http://schemas.microsoft.com/office/drawing/2014/main" val="3673298161"/>
                        </a:ext>
                      </a:extLst>
                    </a:gridCol>
                    <a:gridCol w="974249">
                      <a:extLst>
                        <a:ext uri="{9D8B030D-6E8A-4147-A177-3AD203B41FA5}">
                          <a16:colId xmlns:a16="http://schemas.microsoft.com/office/drawing/2014/main" val="1074018146"/>
                        </a:ext>
                      </a:extLst>
                    </a:gridCol>
                  </a:tblGrid>
                  <a:tr h="331166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Tool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Utility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Trust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806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40228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785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772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680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58FB8616-98F9-61B8-A88A-80C60B4E81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6529331"/>
                  </p:ext>
                </p:extLst>
              </p:nvPr>
            </p:nvGraphicFramePr>
            <p:xfrm>
              <a:off x="9229368" y="5305826"/>
              <a:ext cx="2562105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602">
                      <a:extLst>
                        <a:ext uri="{9D8B030D-6E8A-4147-A177-3AD203B41FA5}">
                          <a16:colId xmlns:a16="http://schemas.microsoft.com/office/drawing/2014/main" val="4228016024"/>
                        </a:ext>
                      </a:extLst>
                    </a:gridCol>
                    <a:gridCol w="884254">
                      <a:extLst>
                        <a:ext uri="{9D8B030D-6E8A-4147-A177-3AD203B41FA5}">
                          <a16:colId xmlns:a16="http://schemas.microsoft.com/office/drawing/2014/main" val="3673298161"/>
                        </a:ext>
                      </a:extLst>
                    </a:gridCol>
                    <a:gridCol w="974249">
                      <a:extLst>
                        <a:ext uri="{9D8B030D-6E8A-4147-A177-3AD203B41FA5}">
                          <a16:colId xmlns:a16="http://schemas.microsoft.com/office/drawing/2014/main" val="107401814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Tool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Utility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Trust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8067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103125" r="-266071" b="-3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402287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209677" r="-266071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7852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300000" r="-2660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77262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412903" r="-266071" b="-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6800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355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9EC4BCE-720D-7246-E023-FCD0D3CF4FC5}"/>
                  </a:ext>
                </a:extLst>
              </p:cNvPr>
              <p:cNvSpPr/>
              <p:nvPr/>
            </p:nvSpPr>
            <p:spPr>
              <a:xfrm>
                <a:off x="3684794" y="11737983"/>
                <a:ext cx="1071248" cy="1071248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0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9EC4BCE-720D-7246-E023-FCD0D3CF4F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11737983"/>
                <a:ext cx="1071248" cy="1071248"/>
              </a:xfrm>
              <a:prstGeom prst="ellipse">
                <a:avLst/>
              </a:prstGeom>
              <a:blipFill>
                <a:blip r:embed="rId2"/>
                <a:stretch>
                  <a:fillRect l="-5682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D4B992C-909F-A49C-BB05-6057A4C90C0E}"/>
                  </a:ext>
                </a:extLst>
              </p:cNvPr>
              <p:cNvSpPr/>
              <p:nvPr/>
            </p:nvSpPr>
            <p:spPr>
              <a:xfrm>
                <a:off x="3684794" y="10140714"/>
                <a:ext cx="1071248" cy="1071248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0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D4B992C-909F-A49C-BB05-6057A4C90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10140714"/>
                <a:ext cx="1071248" cy="1071248"/>
              </a:xfrm>
              <a:prstGeom prst="ellipse">
                <a:avLst/>
              </a:prstGeom>
              <a:blipFill>
                <a:blip r:embed="rId3"/>
                <a:stretch>
                  <a:fillRect l="-4545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CB3E55-5455-44D0-E181-FF275A7D27BF}"/>
                  </a:ext>
                </a:extLst>
              </p:cNvPr>
              <p:cNvSpPr/>
              <p:nvPr/>
            </p:nvSpPr>
            <p:spPr>
              <a:xfrm>
                <a:off x="3684794" y="8543445"/>
                <a:ext cx="1071248" cy="10712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5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CB3E55-5455-44D0-E181-FF275A7D2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8543445"/>
                <a:ext cx="1071248" cy="10712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0C8E1-6633-E57A-35E9-0BB7281BCF71}"/>
                  </a:ext>
                </a:extLst>
              </p:cNvPr>
              <p:cNvSpPr txBox="1"/>
              <p:nvPr/>
            </p:nvSpPr>
            <p:spPr>
              <a:xfrm>
                <a:off x="3684794" y="7728003"/>
                <a:ext cx="1036277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Marginal Queries at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3000" b="0" i="0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0C8E1-6633-E57A-35E9-0BB7281BC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7728003"/>
                <a:ext cx="10362773" cy="553998"/>
              </a:xfrm>
              <a:prstGeom prst="rect">
                <a:avLst/>
              </a:prstGeom>
              <a:blipFill>
                <a:blip r:embed="rId5"/>
                <a:stretch>
                  <a:fillRect l="-1346" t="-13333" r="-367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9E17AA-035D-D7AD-BA2D-76A78E554AFD}"/>
                  </a:ext>
                </a:extLst>
              </p:cNvPr>
              <p:cNvSpPr/>
              <p:nvPr/>
            </p:nvSpPr>
            <p:spPr>
              <a:xfrm>
                <a:off x="3684794" y="13335252"/>
                <a:ext cx="1071248" cy="1071248"/>
              </a:xfrm>
              <a:prstGeom prst="ellipse">
                <a:avLst/>
              </a:prstGeom>
              <a:pattFill prst="wdUpDiag">
                <a:fgClr>
                  <a:schemeClr val="bg2">
                    <a:lumMod val="75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9E17AA-035D-D7AD-BA2D-76A78E554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13335252"/>
                <a:ext cx="1071248" cy="10712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EABCFBB2-3141-755A-FF47-29E3BBF49E49}"/>
              </a:ext>
            </a:extLst>
          </p:cNvPr>
          <p:cNvSpPr/>
          <p:nvPr/>
        </p:nvSpPr>
        <p:spPr>
          <a:xfrm>
            <a:off x="6231260" y="8543445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99E88C-0508-616B-EDA3-E64A243B1F3A}"/>
              </a:ext>
            </a:extLst>
          </p:cNvPr>
          <p:cNvSpPr/>
          <p:nvPr/>
        </p:nvSpPr>
        <p:spPr>
          <a:xfrm>
            <a:off x="8777726" y="8543445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23591F-CE1E-1DBE-38F5-B5861236A913}"/>
              </a:ext>
            </a:extLst>
          </p:cNvPr>
          <p:cNvSpPr/>
          <p:nvPr/>
        </p:nvSpPr>
        <p:spPr>
          <a:xfrm>
            <a:off x="6231260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D49F8D-3E5B-887A-EBE0-44A0FB82E1B1}"/>
              </a:ext>
            </a:extLst>
          </p:cNvPr>
          <p:cNvSpPr/>
          <p:nvPr/>
        </p:nvSpPr>
        <p:spPr>
          <a:xfrm>
            <a:off x="6231260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A11D0E-9248-BF0F-90BD-8C17FF7A544E}"/>
              </a:ext>
            </a:extLst>
          </p:cNvPr>
          <p:cNvSpPr/>
          <p:nvPr/>
        </p:nvSpPr>
        <p:spPr>
          <a:xfrm>
            <a:off x="8777726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8D6AD22-AD59-26B2-AF32-E2FC62F824DE}"/>
              </a:ext>
            </a:extLst>
          </p:cNvPr>
          <p:cNvSpPr/>
          <p:nvPr/>
        </p:nvSpPr>
        <p:spPr>
          <a:xfrm>
            <a:off x="8777726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998119E-99B6-8210-2C1A-6E7C65828231}"/>
                  </a:ext>
                </a:extLst>
              </p:cNvPr>
              <p:cNvSpPr/>
              <p:nvPr/>
            </p:nvSpPr>
            <p:spPr>
              <a:xfrm>
                <a:off x="8777726" y="13335252"/>
                <a:ext cx="1071248" cy="1071248"/>
              </a:xfrm>
              <a:prstGeom prst="ellipse">
                <a:avLst/>
              </a:prstGeom>
              <a:pattFill prst="wdUpDiag">
                <a:fgClr>
                  <a:schemeClr val="bg2">
                    <a:lumMod val="75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998119E-99B6-8210-2C1A-6E7C658282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726" y="13335252"/>
                <a:ext cx="1071248" cy="1071248"/>
              </a:xfrm>
              <a:prstGeom prst="ellipse">
                <a:avLst/>
              </a:prstGeom>
              <a:blipFill>
                <a:blip r:embed="rId7"/>
                <a:stretch>
                  <a:fillRect l="-5618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EBA061E4-02A2-7686-82DD-168B1CB3B271}"/>
              </a:ext>
            </a:extLst>
          </p:cNvPr>
          <p:cNvSpPr/>
          <p:nvPr/>
        </p:nvSpPr>
        <p:spPr>
          <a:xfrm>
            <a:off x="13870658" y="8543445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5E7195-ED06-BB0B-0986-B87678D6E4C7}"/>
              </a:ext>
            </a:extLst>
          </p:cNvPr>
          <p:cNvSpPr/>
          <p:nvPr/>
        </p:nvSpPr>
        <p:spPr>
          <a:xfrm>
            <a:off x="11324192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F6FB5B5-FE83-3297-2091-7F468C8E9714}"/>
              </a:ext>
            </a:extLst>
          </p:cNvPr>
          <p:cNvSpPr/>
          <p:nvPr/>
        </p:nvSpPr>
        <p:spPr>
          <a:xfrm>
            <a:off x="13870658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44A743-79AC-A122-7274-756DC8FD257D}"/>
              </a:ext>
            </a:extLst>
          </p:cNvPr>
          <p:cNvSpPr/>
          <p:nvPr/>
        </p:nvSpPr>
        <p:spPr>
          <a:xfrm>
            <a:off x="16417124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0DA71E1-A388-83EB-4EE2-546E2F059A58}"/>
              </a:ext>
            </a:extLst>
          </p:cNvPr>
          <p:cNvSpPr/>
          <p:nvPr/>
        </p:nvSpPr>
        <p:spPr>
          <a:xfrm>
            <a:off x="11324192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3DB4C14-C1F5-D8CB-F097-2CC611A82D1F}"/>
              </a:ext>
            </a:extLst>
          </p:cNvPr>
          <p:cNvSpPr/>
          <p:nvPr/>
        </p:nvSpPr>
        <p:spPr>
          <a:xfrm>
            <a:off x="13870658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6B0EE2-BA39-B344-BADF-AD1C21487BA3}"/>
                  </a:ext>
                </a:extLst>
              </p:cNvPr>
              <p:cNvSpPr/>
              <p:nvPr/>
            </p:nvSpPr>
            <p:spPr>
              <a:xfrm>
                <a:off x="13870658" y="13335252"/>
                <a:ext cx="1071248" cy="1071248"/>
              </a:xfrm>
              <a:prstGeom prst="ellipse">
                <a:avLst/>
              </a:prstGeom>
              <a:pattFill prst="wdUpDiag">
                <a:fgClr>
                  <a:schemeClr val="bg2">
                    <a:lumMod val="75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6B0EE2-BA39-B344-BADF-AD1C21487B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658" y="13335252"/>
                <a:ext cx="1071248" cy="1071248"/>
              </a:xfrm>
              <a:prstGeom prst="ellipse">
                <a:avLst/>
              </a:prstGeom>
              <a:blipFill>
                <a:blip r:embed="rId8"/>
                <a:stretch>
                  <a:fillRect l="-5682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B1F7AD-285A-F1A8-D2D6-23D704F4AB35}"/>
              </a:ext>
            </a:extLst>
          </p:cNvPr>
          <p:cNvCxnSpPr>
            <a:stCxn id="6" idx="6"/>
            <a:endCxn id="13" idx="2"/>
          </p:cNvCxnSpPr>
          <p:nvPr/>
        </p:nvCxnSpPr>
        <p:spPr>
          <a:xfrm>
            <a:off x="4756042" y="907906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7E5BF2-4B0F-717B-4629-AE0D210CACCF}"/>
              </a:ext>
            </a:extLst>
          </p:cNvPr>
          <p:cNvCxnSpPr/>
          <p:nvPr/>
        </p:nvCxnSpPr>
        <p:spPr>
          <a:xfrm>
            <a:off x="4756042" y="1069450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55E380-664C-12D9-47E3-590898AE3E2A}"/>
              </a:ext>
            </a:extLst>
          </p:cNvPr>
          <p:cNvCxnSpPr/>
          <p:nvPr/>
        </p:nvCxnSpPr>
        <p:spPr>
          <a:xfrm>
            <a:off x="4756042" y="1230994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BA4AEC-2E3F-509B-26FF-4878CA51063D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756042" y="12273607"/>
            <a:ext cx="1475218" cy="165178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2F40B8-8DA8-C5B0-A772-94BEBB1652E7}"/>
              </a:ext>
            </a:extLst>
          </p:cNvPr>
          <p:cNvCxnSpPr/>
          <p:nvPr/>
        </p:nvCxnSpPr>
        <p:spPr>
          <a:xfrm>
            <a:off x="7302508" y="907906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6A8C28-D25D-E30D-30D4-A130710D5BE7}"/>
              </a:ext>
            </a:extLst>
          </p:cNvPr>
          <p:cNvCxnSpPr/>
          <p:nvPr/>
        </p:nvCxnSpPr>
        <p:spPr>
          <a:xfrm>
            <a:off x="7302508" y="10675298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81A2CB9-630F-CF2C-D728-390610FD66E1}"/>
              </a:ext>
            </a:extLst>
          </p:cNvPr>
          <p:cNvCxnSpPr/>
          <p:nvPr/>
        </p:nvCxnSpPr>
        <p:spPr>
          <a:xfrm>
            <a:off x="7302508" y="12271527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E70142F-2A39-2865-D151-91B70F034A6F}"/>
              </a:ext>
            </a:extLst>
          </p:cNvPr>
          <p:cNvCxnSpPr>
            <a:cxnSpLocks/>
          </p:cNvCxnSpPr>
          <p:nvPr/>
        </p:nvCxnSpPr>
        <p:spPr>
          <a:xfrm>
            <a:off x="9848974" y="9059858"/>
            <a:ext cx="1475218" cy="163465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40B7FD-E393-02AE-C5D6-325E615E23D2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12395440" y="9040647"/>
            <a:ext cx="1475218" cy="16356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914019-6D86-8AB8-1C91-8F4C4BB5E523}"/>
              </a:ext>
            </a:extLst>
          </p:cNvPr>
          <p:cNvCxnSpPr/>
          <p:nvPr/>
        </p:nvCxnSpPr>
        <p:spPr>
          <a:xfrm>
            <a:off x="9848974" y="1069450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3558BC7-12F0-C915-B27C-728C078C9FD7}"/>
              </a:ext>
            </a:extLst>
          </p:cNvPr>
          <p:cNvCxnSpPr/>
          <p:nvPr/>
        </p:nvCxnSpPr>
        <p:spPr>
          <a:xfrm>
            <a:off x="9848974" y="12329160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B1890B-0FD0-D048-1448-0FAB122AD35C}"/>
              </a:ext>
            </a:extLst>
          </p:cNvPr>
          <p:cNvCxnSpPr/>
          <p:nvPr/>
        </p:nvCxnSpPr>
        <p:spPr>
          <a:xfrm>
            <a:off x="12395440" y="10643663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A5E9E2E-3541-9F11-425F-388BF0CBA554}"/>
              </a:ext>
            </a:extLst>
          </p:cNvPr>
          <p:cNvCxnSpPr/>
          <p:nvPr/>
        </p:nvCxnSpPr>
        <p:spPr>
          <a:xfrm>
            <a:off x="12395440" y="1224667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75746EE-F9AD-1F50-A29A-2485D00A6187}"/>
              </a:ext>
            </a:extLst>
          </p:cNvPr>
          <p:cNvCxnSpPr/>
          <p:nvPr/>
        </p:nvCxnSpPr>
        <p:spPr>
          <a:xfrm>
            <a:off x="14941906" y="10675298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DFB208-CFF8-E1F7-2AD8-1FB8D6489BB2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14941906" y="10676338"/>
            <a:ext cx="1475218" cy="157034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55AA11-5756-F897-7B68-5A31562FD219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14941906" y="10676338"/>
            <a:ext cx="1475218" cy="314172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D02E1D4-EC38-F59B-2C6D-68D22875A818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14941906" y="9030016"/>
            <a:ext cx="1475218" cy="164632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77214C-38F5-7745-DCD1-BEE5A412A757}"/>
              </a:ext>
            </a:extLst>
          </p:cNvPr>
          <p:cNvSpPr txBox="1"/>
          <p:nvPr/>
        </p:nvSpPr>
        <p:spPr>
          <a:xfrm>
            <a:off x="16362190" y="9105821"/>
            <a:ext cx="19258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Output Decision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3755A-34E6-25A5-F6EA-DA9DB65336CD}"/>
              </a:ext>
            </a:extLst>
          </p:cNvPr>
          <p:cNvSpPr txBox="1"/>
          <p:nvPr/>
        </p:nvSpPr>
        <p:spPr>
          <a:xfrm>
            <a:off x="2825566" y="3815525"/>
            <a:ext cx="28277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sequence of decisions is of length 3, (either token generation of tool descriptions, or where X directly represents a tool). We just say X is a tool. 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0F7C07E-D662-E260-41B6-D43694822328}"/>
              </a:ext>
            </a:extLst>
          </p:cNvPr>
          <p:cNvCxnSpPr/>
          <p:nvPr/>
        </p:nvCxnSpPr>
        <p:spPr>
          <a:xfrm>
            <a:off x="1828800" y="13099498"/>
            <a:ext cx="1603060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00B52FD-5661-AE68-A29C-A0B67FC70252}"/>
              </a:ext>
            </a:extLst>
          </p:cNvPr>
          <p:cNvCxnSpPr>
            <a:cxnSpLocks/>
          </p:cNvCxnSpPr>
          <p:nvPr/>
        </p:nvCxnSpPr>
        <p:spPr>
          <a:xfrm flipV="1">
            <a:off x="9844103" y="12381016"/>
            <a:ext cx="1480089" cy="143704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94ADD81-52D6-BDB7-A257-9CFA4B5EA561}"/>
              </a:ext>
            </a:extLst>
          </p:cNvPr>
          <p:cNvSpPr txBox="1"/>
          <p:nvPr/>
        </p:nvSpPr>
        <p:spPr>
          <a:xfrm>
            <a:off x="3684794" y="14488723"/>
            <a:ext cx="151850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Marginalize over future sequences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FB1980F-B336-E592-1281-6475CF8AFCD3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>
          <a:xfrm flipV="1">
            <a:off x="7302508" y="10676338"/>
            <a:ext cx="1475218" cy="1597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74E7DF-A8AA-3012-362A-2428B8035E7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4756042" y="9079069"/>
            <a:ext cx="1475218" cy="1597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09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F960B59-887B-EB9B-14B6-79BCEC5F38E4}"/>
              </a:ext>
            </a:extLst>
          </p:cNvPr>
          <p:cNvSpPr/>
          <p:nvPr/>
        </p:nvSpPr>
        <p:spPr>
          <a:xfrm>
            <a:off x="3119890" y="3690502"/>
            <a:ext cx="1977081" cy="1260389"/>
          </a:xfrm>
          <a:prstGeom prst="ellipse">
            <a:avLst/>
          </a:prstGeom>
          <a:ln w="44450"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3FB749-7EBE-2F3E-AADF-39467C39329F}"/>
                  </a:ext>
                </a:extLst>
              </p:cNvPr>
              <p:cNvSpPr txBox="1"/>
              <p:nvPr/>
            </p:nvSpPr>
            <p:spPr>
              <a:xfrm>
                <a:off x="3399726" y="4119912"/>
                <a:ext cx="151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NL Input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3FB749-7EBE-2F3E-AADF-39467C393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726" y="4119912"/>
                <a:ext cx="1516184" cy="369332"/>
              </a:xfrm>
              <a:prstGeom prst="rect">
                <a:avLst/>
              </a:prstGeom>
              <a:blipFill>
                <a:blip r:embed="rId2"/>
                <a:stretch>
                  <a:fillRect l="-333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880E8FA9-2175-000B-0965-2723DC3ECD88}"/>
              </a:ext>
            </a:extLst>
          </p:cNvPr>
          <p:cNvSpPr/>
          <p:nvPr/>
        </p:nvSpPr>
        <p:spPr>
          <a:xfrm>
            <a:off x="6762622" y="3690502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B32648-9237-13DD-7775-D0248797058F}"/>
                  </a:ext>
                </a:extLst>
              </p:cNvPr>
              <p:cNvSpPr txBox="1"/>
              <p:nvPr/>
            </p:nvSpPr>
            <p:spPr>
              <a:xfrm>
                <a:off x="7086954" y="4136027"/>
                <a:ext cx="166565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Code CoT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𝑐𝑜𝑑𝑒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B32648-9237-13DD-7775-D0248797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954" y="4136027"/>
                <a:ext cx="1665651" cy="923330"/>
              </a:xfrm>
              <a:prstGeom prst="rect">
                <a:avLst/>
              </a:prstGeom>
              <a:blipFill>
                <a:blip r:embed="rId3"/>
                <a:stretch>
                  <a:fillRect l="-3788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D274C5D-CC8A-A883-35CB-F9ACF629E157}"/>
                  </a:ext>
                </a:extLst>
              </p:cNvPr>
              <p:cNvSpPr/>
              <p:nvPr/>
            </p:nvSpPr>
            <p:spPr>
              <a:xfrm>
                <a:off x="10405354" y="3674383"/>
                <a:ext cx="1977081" cy="1260389"/>
              </a:xfrm>
              <a:prstGeom prst="ellipse">
                <a:avLst/>
              </a:prstGeom>
              <a:ln w="444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Answer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D274C5D-CC8A-A883-35CB-F9ACF629E1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354" y="3674383"/>
                <a:ext cx="1977081" cy="12603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444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4EE1C1-C714-B932-D37E-9AB505B5E0A4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5096971" y="4320697"/>
            <a:ext cx="16656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02647-6655-A8AA-2610-678E8972B134}"/>
              </a:ext>
            </a:extLst>
          </p:cNvPr>
          <p:cNvCxnSpPr>
            <a:cxnSpLocks/>
          </p:cNvCxnSpPr>
          <p:nvPr/>
        </p:nvCxnSpPr>
        <p:spPr>
          <a:xfrm>
            <a:off x="8739703" y="4320695"/>
            <a:ext cx="1665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A954BDE-087F-C5F6-7BE0-570803B9DCB8}"/>
              </a:ext>
            </a:extLst>
          </p:cNvPr>
          <p:cNvSpPr/>
          <p:nvPr/>
        </p:nvSpPr>
        <p:spPr>
          <a:xfrm>
            <a:off x="3119890" y="5564257"/>
            <a:ext cx="1977081" cy="1260389"/>
          </a:xfrm>
          <a:prstGeom prst="ellipse">
            <a:avLst/>
          </a:prstGeom>
          <a:ln w="44450"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548657-062D-BF4D-A97E-6E2B843FBA58}"/>
                  </a:ext>
                </a:extLst>
              </p:cNvPr>
              <p:cNvSpPr txBox="1"/>
              <p:nvPr/>
            </p:nvSpPr>
            <p:spPr>
              <a:xfrm>
                <a:off x="3399726" y="5993667"/>
                <a:ext cx="151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NL Input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548657-062D-BF4D-A97E-6E2B843FB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726" y="5993667"/>
                <a:ext cx="1516184" cy="369332"/>
              </a:xfrm>
              <a:prstGeom prst="rect">
                <a:avLst/>
              </a:prstGeom>
              <a:blipFill>
                <a:blip r:embed="rId5"/>
                <a:stretch>
                  <a:fillRect l="-333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574154E-1741-C9FE-D17D-21A41D015323}"/>
              </a:ext>
            </a:extLst>
          </p:cNvPr>
          <p:cNvSpPr/>
          <p:nvPr/>
        </p:nvSpPr>
        <p:spPr>
          <a:xfrm>
            <a:off x="6762622" y="5564257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B0F2AB-B370-601B-B449-A0CE7C47BD00}"/>
                  </a:ext>
                </a:extLst>
              </p:cNvPr>
              <p:cNvSpPr txBox="1"/>
              <p:nvPr/>
            </p:nvSpPr>
            <p:spPr>
              <a:xfrm>
                <a:off x="6989415" y="5993666"/>
                <a:ext cx="166565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Code CoT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𝑐𝑜𝑑𝑒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B0F2AB-B370-601B-B449-A0CE7C47B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415" y="5993666"/>
                <a:ext cx="1665651" cy="923330"/>
              </a:xfrm>
              <a:prstGeom prst="rect">
                <a:avLst/>
              </a:prstGeom>
              <a:blipFill>
                <a:blip r:embed="rId6"/>
                <a:stretch>
                  <a:fillRect l="-3030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E4253B7-8344-8F9C-FDB0-41B63640851F}"/>
                  </a:ext>
                </a:extLst>
              </p:cNvPr>
              <p:cNvSpPr/>
              <p:nvPr/>
            </p:nvSpPr>
            <p:spPr>
              <a:xfrm>
                <a:off x="10405354" y="5548138"/>
                <a:ext cx="1977081" cy="1260389"/>
              </a:xfrm>
              <a:prstGeom prst="ellipse">
                <a:avLst/>
              </a:prstGeom>
              <a:ln w="444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Answer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E4253B7-8344-8F9C-FDB0-41B6364085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354" y="5548138"/>
                <a:ext cx="1977081" cy="12603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444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2D5FE5-5599-E2EB-302B-94025486758C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096971" y="6194452"/>
            <a:ext cx="16656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B7AB39-1D78-0F87-9D4E-332D1D991A71}"/>
              </a:ext>
            </a:extLst>
          </p:cNvPr>
          <p:cNvCxnSpPr>
            <a:cxnSpLocks/>
          </p:cNvCxnSpPr>
          <p:nvPr/>
        </p:nvCxnSpPr>
        <p:spPr>
          <a:xfrm>
            <a:off x="8739703" y="6194450"/>
            <a:ext cx="1665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532249-8294-BAF4-E38D-014A5F7F1325}"/>
                  </a:ext>
                </a:extLst>
              </p:cNvPr>
              <p:cNvSpPr txBox="1"/>
              <p:nvPr/>
            </p:nvSpPr>
            <p:spPr>
              <a:xfrm>
                <a:off x="8950506" y="3753443"/>
                <a:ext cx="1499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𝑐𝑜𝑑𝑒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532249-8294-BAF4-E38D-014A5F7F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506" y="3753443"/>
                <a:ext cx="1499192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16FF15-9718-4E4C-FBC1-C51A18473AA2}"/>
                  </a:ext>
                </a:extLst>
              </p:cNvPr>
              <p:cNvSpPr txBox="1"/>
              <p:nvPr/>
            </p:nvSpPr>
            <p:spPr>
              <a:xfrm>
                <a:off x="5159478" y="3750579"/>
                <a:ext cx="1278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𝑐𝑜𝑑𝑒</m:t>
                              </m:r>
                            </m:sub>
                          </m:sSub>
                        </m:e>
                        <m:e>
                          <m: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16FF15-9718-4E4C-FBC1-C51A18473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478" y="3750579"/>
                <a:ext cx="12788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BA168D-161E-865F-C833-5DEB12B5E12C}"/>
                  </a:ext>
                </a:extLst>
              </p:cNvPr>
              <p:cNvSpPr txBox="1"/>
              <p:nvPr/>
            </p:nvSpPr>
            <p:spPr>
              <a:xfrm>
                <a:off x="8796100" y="5774265"/>
                <a:ext cx="1646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𝑆𝑜𝑙𝑣𝑒𝑟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BA168D-161E-865F-C833-5DEB12B5E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6100" y="5774265"/>
                <a:ext cx="1646797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8E46F494-25B2-E97D-66E8-CDFE220D96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96841" y="4304574"/>
            <a:ext cx="12700" cy="1889876"/>
          </a:xfrm>
          <a:prstGeom prst="curvedConnector3">
            <a:avLst>
              <a:gd name="adj1" fmla="val 2806449"/>
            </a:avLst>
          </a:prstGeom>
          <a:ln w="3175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CAC1CC-C7E9-BBE6-3638-F36CCC9A1C78}"/>
                  </a:ext>
                </a:extLst>
              </p:cNvPr>
              <p:cNvSpPr txBox="1"/>
              <p:nvPr/>
            </p:nvSpPr>
            <p:spPr>
              <a:xfrm>
                <a:off x="5159478" y="5548119"/>
                <a:ext cx="1278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𝑐𝑜𝑑𝑒</m:t>
                              </m:r>
                            </m:sub>
                          </m:sSub>
                        </m:e>
                        <m:e>
                          <m: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CAC1CC-C7E9-BBE6-3638-F36CCC9A1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478" y="5548119"/>
                <a:ext cx="12788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20A56E9-4992-A6DB-2B1B-C1D2DFF5A417}"/>
              </a:ext>
            </a:extLst>
          </p:cNvPr>
          <p:cNvSpPr txBox="1"/>
          <p:nvPr/>
        </p:nvSpPr>
        <p:spPr>
          <a:xfrm>
            <a:off x="6633805" y="3212702"/>
            <a:ext cx="2234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 we fail here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3E90AB-B103-09E2-8856-05756A9A7EF0}"/>
              </a:ext>
            </a:extLst>
          </p:cNvPr>
          <p:cNvCxnSpPr/>
          <p:nvPr/>
        </p:nvCxnSpPr>
        <p:spPr>
          <a:xfrm>
            <a:off x="8868519" y="2984773"/>
            <a:ext cx="0" cy="449394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1DEC4C-6334-5CF3-FD7C-34C09B526F06}"/>
              </a:ext>
            </a:extLst>
          </p:cNvPr>
          <p:cNvSpPr txBox="1"/>
          <p:nvPr/>
        </p:nvSpPr>
        <p:spPr>
          <a:xfrm>
            <a:off x="8918531" y="2702143"/>
            <a:ext cx="2162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only advantage LM confers is recovery 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707C884-F4A5-C592-6227-0FDCC6FB12E6}"/>
                  </a:ext>
                </a:extLst>
              </p:cNvPr>
              <p:cNvSpPr txBox="1"/>
              <p:nvPr/>
            </p:nvSpPr>
            <p:spPr>
              <a:xfrm>
                <a:off x="5502242" y="7989271"/>
                <a:ext cx="8994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𝑊𝑟𝑜𝑛𝑔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×[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𝐸𝑥𝑒𝑐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𝑊𝑟𝑜𝑛𝑔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𝑆𝑜𝑙𝑣𝑒𝑟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𝑊𝑟𝑜𝑛𝑔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707C884-F4A5-C592-6227-0FDCC6FB1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242" y="7989271"/>
                <a:ext cx="8994868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F2A0A6D-C2D6-8507-ECF4-7083FB873DCB}"/>
                  </a:ext>
                </a:extLst>
              </p:cNvPr>
              <p:cNvSpPr txBox="1"/>
              <p:nvPr/>
            </p:nvSpPr>
            <p:spPr>
              <a:xfrm>
                <a:off x="5502242" y="8595828"/>
                <a:ext cx="8994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×[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𝐸𝑥𝑒𝑐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𝑆𝑜𝑙𝑣𝑒𝑟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F2A0A6D-C2D6-8507-ECF4-7083FB873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242" y="8595828"/>
                <a:ext cx="8994868" cy="369332"/>
              </a:xfrm>
              <a:prstGeom prst="rect">
                <a:avLst/>
              </a:prstGeom>
              <a:blipFill>
                <a:blip r:embed="rId1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5450EF-6036-D4FA-58EB-07B2A387BB21}"/>
                  </a:ext>
                </a:extLst>
              </p:cNvPr>
              <p:cNvSpPr txBox="1"/>
              <p:nvPr/>
            </p:nvSpPr>
            <p:spPr>
              <a:xfrm>
                <a:off x="5502242" y="7483083"/>
                <a:ext cx="8994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𝑐𝑜𝑑𝑒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𝐿𝑀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𝑐𝑜𝑑𝑒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𝑆𝑜𝑙𝑣𝑒𝑟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𝑐𝑜𝑑𝑒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 from the data. 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5450EF-6036-D4FA-58EB-07B2A387B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242" y="7483083"/>
                <a:ext cx="8994868" cy="369332"/>
              </a:xfrm>
              <a:prstGeom prst="rect">
                <a:avLst/>
              </a:prstGeom>
              <a:blipFill>
                <a:blip r:embed="rId14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ame 35">
            <a:extLst>
              <a:ext uri="{FF2B5EF4-FFF2-40B4-BE49-F238E27FC236}">
                <a16:creationId xmlns:a16="http://schemas.microsoft.com/office/drawing/2014/main" id="{0F9544A8-553C-5D11-50CC-1A8F490B04F1}"/>
              </a:ext>
            </a:extLst>
          </p:cNvPr>
          <p:cNvSpPr/>
          <p:nvPr/>
        </p:nvSpPr>
        <p:spPr>
          <a:xfrm>
            <a:off x="5363737" y="7840667"/>
            <a:ext cx="8842917" cy="654069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E4B3AF8A-0488-E32B-41F0-C2E933AB0FF0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11080822" y="3163808"/>
            <a:ext cx="2838447" cy="454000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56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068FC34-8A15-64F2-1BDA-F801D4AF4B49}"/>
              </a:ext>
            </a:extLst>
          </p:cNvPr>
          <p:cNvSpPr/>
          <p:nvPr/>
        </p:nvSpPr>
        <p:spPr>
          <a:xfrm>
            <a:off x="11149904" y="1572638"/>
            <a:ext cx="2199242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(Addition)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E71562-C677-138C-3C66-8172F6122017}"/>
              </a:ext>
            </a:extLst>
          </p:cNvPr>
          <p:cNvSpPr/>
          <p:nvPr/>
        </p:nvSpPr>
        <p:spPr>
          <a:xfrm>
            <a:off x="11137616" y="3708731"/>
            <a:ext cx="2199243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’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(Addition)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96FEB-0C19-8504-F8CC-942668E3287B}"/>
              </a:ext>
            </a:extLst>
          </p:cNvPr>
          <p:cNvSpPr txBox="1"/>
          <p:nvPr/>
        </p:nvSpPr>
        <p:spPr>
          <a:xfrm>
            <a:off x="7959790" y="778974"/>
            <a:ext cx="266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Latents are </a:t>
            </a:r>
            <a:r>
              <a:rPr lang="en-US" b="1" dirty="0"/>
              <a:t>Identifiable</a:t>
            </a:r>
            <a:r>
              <a:rPr lang="en-US" dirty="0"/>
              <a:t>. </a:t>
            </a:r>
          </a:p>
        </p:txBody>
      </p:sp>
      <p:pic>
        <p:nvPicPr>
          <p:cNvPr id="10" name="Picture 9" descr="A graph of a television show&#10;&#10;Description automatically generated with medium confidence">
            <a:extLst>
              <a:ext uri="{FF2B5EF4-FFF2-40B4-BE49-F238E27FC236}">
                <a16:creationId xmlns:a16="http://schemas.microsoft.com/office/drawing/2014/main" id="{E7EBE1F5-D179-E4F4-637E-F64CB36C2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3589058"/>
            <a:ext cx="1810595" cy="1716363"/>
          </a:xfrm>
          <a:prstGeom prst="rect">
            <a:avLst/>
          </a:prstGeom>
        </p:spPr>
      </p:pic>
      <p:pic>
        <p:nvPicPr>
          <p:cNvPr id="11" name="Picture 10" descr="A graph of a television show&#10;&#10;Description automatically generated with medium confidence">
            <a:extLst>
              <a:ext uri="{FF2B5EF4-FFF2-40B4-BE49-F238E27FC236}">
                <a16:creationId xmlns:a16="http://schemas.microsoft.com/office/drawing/2014/main" id="{3ECF0210-4C3E-7658-DC96-16B8CF9E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1344652"/>
            <a:ext cx="1810595" cy="1716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79C043-A22F-317C-6F56-41CE8F74080E}"/>
              </a:ext>
            </a:extLst>
          </p:cNvPr>
          <p:cNvSpPr txBox="1"/>
          <p:nvPr/>
        </p:nvSpPr>
        <p:spPr>
          <a:xfrm>
            <a:off x="5921298" y="1676349"/>
            <a:ext cx="2464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theta, x, </a:t>
            </a:r>
            <a:r>
              <a:rPr lang="en-US" dirty="0" err="1"/>
              <a:t>r_i</a:t>
            </a:r>
            <a:r>
              <a:rPr lang="en-US" dirty="0"/>
              <a:t> = code)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77B23-41A6-E6DA-E084-D322B7A54AE6}"/>
              </a:ext>
            </a:extLst>
          </p:cNvPr>
          <p:cNvSpPr txBox="1"/>
          <p:nvPr/>
        </p:nvSpPr>
        <p:spPr>
          <a:xfrm>
            <a:off x="5909010" y="4077907"/>
            <a:ext cx="249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theta’, x, </a:t>
            </a:r>
            <a:r>
              <a:rPr lang="en-US" dirty="0" err="1"/>
              <a:t>r_i</a:t>
            </a:r>
            <a:r>
              <a:rPr lang="en-US" dirty="0"/>
              <a:t> = code)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58623C-444B-21BD-CD62-9578F3E722D5}"/>
              </a:ext>
            </a:extLst>
          </p:cNvPr>
          <p:cNvCxnSpPr>
            <a:stCxn id="11" idx="3"/>
          </p:cNvCxnSpPr>
          <p:nvPr/>
        </p:nvCxnSpPr>
        <p:spPr>
          <a:xfrm flipV="1">
            <a:off x="10196735" y="2202833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ABFC18-E277-CE3F-6080-6C52B8208FD0}"/>
              </a:ext>
            </a:extLst>
          </p:cNvPr>
          <p:cNvCxnSpPr/>
          <p:nvPr/>
        </p:nvCxnSpPr>
        <p:spPr>
          <a:xfrm flipV="1">
            <a:off x="10209023" y="4413258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qual 19">
            <a:extLst>
              <a:ext uri="{FF2B5EF4-FFF2-40B4-BE49-F238E27FC236}">
                <a16:creationId xmlns:a16="http://schemas.microsoft.com/office/drawing/2014/main" id="{0A7A8152-7A95-4C51-CCE0-5590E5060B7F}"/>
              </a:ext>
            </a:extLst>
          </p:cNvPr>
          <p:cNvSpPr/>
          <p:nvPr/>
        </p:nvSpPr>
        <p:spPr>
          <a:xfrm>
            <a:off x="8968559" y="3061015"/>
            <a:ext cx="557561" cy="5280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Equal 20">
            <a:extLst>
              <a:ext uri="{FF2B5EF4-FFF2-40B4-BE49-F238E27FC236}">
                <a16:creationId xmlns:a16="http://schemas.microsoft.com/office/drawing/2014/main" id="{4CA8C2EC-8291-B2BD-F499-ED85AF15431A}"/>
              </a:ext>
            </a:extLst>
          </p:cNvPr>
          <p:cNvSpPr/>
          <p:nvPr/>
        </p:nvSpPr>
        <p:spPr>
          <a:xfrm>
            <a:off x="11958456" y="2930906"/>
            <a:ext cx="557561" cy="5280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C5F517-8E08-F9B8-64B1-42B72FC4CFEC}"/>
              </a:ext>
            </a:extLst>
          </p:cNvPr>
          <p:cNvSpPr/>
          <p:nvPr/>
        </p:nvSpPr>
        <p:spPr>
          <a:xfrm>
            <a:off x="11149904" y="6061450"/>
            <a:ext cx="2199242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(Addition)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2F3C55-009E-A68B-6D86-163161109A27}"/>
              </a:ext>
            </a:extLst>
          </p:cNvPr>
          <p:cNvSpPr/>
          <p:nvPr/>
        </p:nvSpPr>
        <p:spPr>
          <a:xfrm>
            <a:off x="11137616" y="8197543"/>
            <a:ext cx="2199243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’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(Subtract)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4" name="Picture 23" descr="A graph of a television show&#10;&#10;Description automatically generated with medium confidence">
            <a:extLst>
              <a:ext uri="{FF2B5EF4-FFF2-40B4-BE49-F238E27FC236}">
                <a16:creationId xmlns:a16="http://schemas.microsoft.com/office/drawing/2014/main" id="{54CC4ACD-E878-8515-8A71-F6033B6D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8077870"/>
            <a:ext cx="1810595" cy="1716363"/>
          </a:xfrm>
          <a:prstGeom prst="rect">
            <a:avLst/>
          </a:prstGeom>
        </p:spPr>
      </p:pic>
      <p:pic>
        <p:nvPicPr>
          <p:cNvPr id="25" name="Picture 24" descr="A graph of a television show&#10;&#10;Description automatically generated with medium confidence">
            <a:extLst>
              <a:ext uri="{FF2B5EF4-FFF2-40B4-BE49-F238E27FC236}">
                <a16:creationId xmlns:a16="http://schemas.microsoft.com/office/drawing/2014/main" id="{5EB28673-38DD-5984-8D1D-2E81190FD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5833464"/>
            <a:ext cx="1810595" cy="171636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ADEABE-F542-02B5-CEE8-E72F019DCA6F}"/>
              </a:ext>
            </a:extLst>
          </p:cNvPr>
          <p:cNvSpPr txBox="1"/>
          <p:nvPr/>
        </p:nvSpPr>
        <p:spPr>
          <a:xfrm>
            <a:off x="5921298" y="6165161"/>
            <a:ext cx="2150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theta, x, </a:t>
            </a:r>
            <a:r>
              <a:rPr lang="en-US" dirty="0" err="1"/>
              <a:t>r_i</a:t>
            </a:r>
            <a:r>
              <a:rPr lang="en-US" dirty="0"/>
              <a:t> = nl)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5E089-28FB-B126-9934-FD6248E3D2A9}"/>
              </a:ext>
            </a:extLst>
          </p:cNvPr>
          <p:cNvSpPr txBox="1"/>
          <p:nvPr/>
        </p:nvSpPr>
        <p:spPr>
          <a:xfrm>
            <a:off x="5909010" y="8566719"/>
            <a:ext cx="2180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theta’, x, </a:t>
            </a:r>
            <a:r>
              <a:rPr lang="en-US" dirty="0" err="1"/>
              <a:t>r_i</a:t>
            </a:r>
            <a:r>
              <a:rPr lang="en-US" dirty="0"/>
              <a:t> = nl)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1D3E70-C8CF-C9CC-66B7-A71AD84D9357}"/>
              </a:ext>
            </a:extLst>
          </p:cNvPr>
          <p:cNvCxnSpPr>
            <a:stCxn id="25" idx="3"/>
          </p:cNvCxnSpPr>
          <p:nvPr/>
        </p:nvCxnSpPr>
        <p:spPr>
          <a:xfrm flipV="1">
            <a:off x="10196735" y="6691645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F1155D-2948-978C-A271-6CD0F10B45E7}"/>
              </a:ext>
            </a:extLst>
          </p:cNvPr>
          <p:cNvCxnSpPr/>
          <p:nvPr/>
        </p:nvCxnSpPr>
        <p:spPr>
          <a:xfrm flipV="1">
            <a:off x="10209023" y="8902070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qual 29">
            <a:extLst>
              <a:ext uri="{FF2B5EF4-FFF2-40B4-BE49-F238E27FC236}">
                <a16:creationId xmlns:a16="http://schemas.microsoft.com/office/drawing/2014/main" id="{3D055FC7-BDAA-E100-9CAC-DB037C62B98D}"/>
              </a:ext>
            </a:extLst>
          </p:cNvPr>
          <p:cNvSpPr/>
          <p:nvPr/>
        </p:nvSpPr>
        <p:spPr>
          <a:xfrm>
            <a:off x="9012655" y="7549827"/>
            <a:ext cx="557561" cy="5280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8F054F-A475-F1A3-826F-7A2EB4E7A0BB}"/>
              </a:ext>
            </a:extLst>
          </p:cNvPr>
          <p:cNvSpPr txBox="1"/>
          <p:nvPr/>
        </p:nvSpPr>
        <p:spPr>
          <a:xfrm>
            <a:off x="5931709" y="7154540"/>
            <a:ext cx="1623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 Mary Gives John 5 Applies.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408554-9561-9CFE-2533-098E6756310C}"/>
              </a:ext>
            </a:extLst>
          </p:cNvPr>
          <p:cNvSpPr txBox="1"/>
          <p:nvPr/>
        </p:nvSpPr>
        <p:spPr>
          <a:xfrm>
            <a:off x="3959162" y="7149997"/>
            <a:ext cx="1810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Are we subtracting from Mary, or adding to John?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8DE9C5-59F5-B239-22AE-272A61E6895B}"/>
              </a:ext>
            </a:extLst>
          </p:cNvPr>
          <p:cNvSpPr txBox="1"/>
          <p:nvPr/>
        </p:nvSpPr>
        <p:spPr>
          <a:xfrm>
            <a:off x="4594718" y="2338618"/>
            <a:ext cx="3703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generating a piece of code: e.g. def add(). For different semantics, the probability of generating this is definitely different (high for addition, low for subtraction)</a:t>
            </a:r>
          </a:p>
        </p:txBody>
      </p:sp>
      <p:sp>
        <p:nvSpPr>
          <p:cNvPr id="35" name="Not Equal 34">
            <a:extLst>
              <a:ext uri="{FF2B5EF4-FFF2-40B4-BE49-F238E27FC236}">
                <a16:creationId xmlns:a16="http://schemas.microsoft.com/office/drawing/2014/main" id="{72D8427B-9FDA-B80F-14D0-4FF8DF6B7A15}"/>
              </a:ext>
            </a:extLst>
          </p:cNvPr>
          <p:cNvSpPr/>
          <p:nvPr/>
        </p:nvSpPr>
        <p:spPr>
          <a:xfrm>
            <a:off x="11958456" y="7495669"/>
            <a:ext cx="729178" cy="5280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09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80DE7B4-254C-A165-9BF1-BDEBDCA9008B}"/>
              </a:ext>
            </a:extLst>
          </p:cNvPr>
          <p:cNvSpPr/>
          <p:nvPr/>
        </p:nvSpPr>
        <p:spPr>
          <a:xfrm>
            <a:off x="4692325" y="4508477"/>
            <a:ext cx="3536115" cy="253115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8F09C-70E5-C3FD-6442-C6451F4CEEDA}"/>
              </a:ext>
            </a:extLst>
          </p:cNvPr>
          <p:cNvSpPr txBox="1"/>
          <p:nvPr/>
        </p:nvSpPr>
        <p:spPr>
          <a:xfrm>
            <a:off x="4692325" y="3308148"/>
            <a:ext cx="3236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Given identifiability of z, we want to show that log likelihood concentrates on the right concept in the limit</a:t>
            </a:r>
          </a:p>
        </p:txBody>
      </p:sp>
      <p:pic>
        <p:nvPicPr>
          <p:cNvPr id="7" name="Picture 6" descr="A group of black letters&#10;&#10;Description automatically generated with medium confidence">
            <a:extLst>
              <a:ext uri="{FF2B5EF4-FFF2-40B4-BE49-F238E27FC236}">
                <a16:creationId xmlns:a16="http://schemas.microsoft.com/office/drawing/2014/main" id="{C6604D3B-8F58-64C6-614A-AF5FA806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532" y="5450202"/>
            <a:ext cx="3187700" cy="6477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586089-6464-04D9-9C13-46E8C1EDC2F9}"/>
              </a:ext>
            </a:extLst>
          </p:cNvPr>
          <p:cNvCxnSpPr>
            <a:stCxn id="4" idx="6"/>
          </p:cNvCxnSpPr>
          <p:nvPr/>
        </p:nvCxnSpPr>
        <p:spPr>
          <a:xfrm>
            <a:off x="8228440" y="5774052"/>
            <a:ext cx="34947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6D52461-B813-92C7-CB26-9C5AAEE8AF85}"/>
              </a:ext>
            </a:extLst>
          </p:cNvPr>
          <p:cNvSpPr/>
          <p:nvPr/>
        </p:nvSpPr>
        <p:spPr>
          <a:xfrm>
            <a:off x="11723202" y="4508477"/>
            <a:ext cx="3536115" cy="253115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 iff theta is the right answer, otherwise 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34B0C5-4819-233F-BFFF-16819C5F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377" y="5052776"/>
            <a:ext cx="2156411" cy="5625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7ABD87-11EC-FC41-44C1-2BAA69450CF8}"/>
              </a:ext>
            </a:extLst>
          </p:cNvPr>
          <p:cNvSpPr txBox="1"/>
          <p:nvPr/>
        </p:nvSpPr>
        <p:spPr>
          <a:xfrm>
            <a:off x="8402647" y="5852842"/>
            <a:ext cx="3320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via Asymptotic Equipartition Property of Ergodic Process.</a:t>
            </a:r>
          </a:p>
          <a:p>
            <a:r>
              <a:rPr lang="en-US" dirty="0"/>
              <a:t>(i.e. generalized Shannon-Mcmillan-Breiman Theorem) </a:t>
            </a:r>
          </a:p>
        </p:txBody>
      </p:sp>
    </p:spTree>
    <p:extLst>
      <p:ext uri="{BB962C8B-B14F-4D97-AF65-F5344CB8AC3E}">
        <p14:creationId xmlns:p14="http://schemas.microsoft.com/office/powerpoint/2010/main" val="321390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72E91F-3112-052F-C991-B03367995246}"/>
              </a:ext>
            </a:extLst>
          </p:cNvPr>
          <p:cNvSpPr/>
          <p:nvPr/>
        </p:nvSpPr>
        <p:spPr>
          <a:xfrm>
            <a:off x="4692325" y="4508477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3683FC-233C-2FCE-1AB2-27CA8AE52CE6}"/>
              </a:ext>
            </a:extLst>
          </p:cNvPr>
          <p:cNvSpPr/>
          <p:nvPr/>
        </p:nvSpPr>
        <p:spPr>
          <a:xfrm>
            <a:off x="5925759" y="4508477"/>
            <a:ext cx="133060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compute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A81213-FF64-B4BC-D89E-F079042C6EF5}"/>
              </a:ext>
            </a:extLst>
          </p:cNvPr>
          <p:cNvSpPr/>
          <p:nvPr/>
        </p:nvSpPr>
        <p:spPr>
          <a:xfrm>
            <a:off x="4692324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1A64B4-2F48-BAA6-BD3B-D1DFEA8EB78F}"/>
              </a:ext>
            </a:extLst>
          </p:cNvPr>
          <p:cNvSpPr/>
          <p:nvPr/>
        </p:nvSpPr>
        <p:spPr>
          <a:xfrm>
            <a:off x="6272691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2A9E6F-8BC9-302A-E3B2-A6F30FC616AF}"/>
              </a:ext>
            </a:extLst>
          </p:cNvPr>
          <p:cNvSpPr/>
          <p:nvPr/>
        </p:nvSpPr>
        <p:spPr>
          <a:xfrm>
            <a:off x="7540427" y="4522415"/>
            <a:ext cx="1319122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_amount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DC4EF3-94C8-0529-17CB-18E8397946B9}"/>
              </a:ext>
            </a:extLst>
          </p:cNvPr>
          <p:cNvSpPr/>
          <p:nvPr/>
        </p:nvSpPr>
        <p:spPr>
          <a:xfrm>
            <a:off x="9269067" y="4522415"/>
            <a:ext cx="983293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sz="1400" dirty="0"/>
              <a:t>pizza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E023BE-6320-1D31-4054-CB12F529BE0E}"/>
              </a:ext>
            </a:extLst>
          </p:cNvPr>
          <p:cNvSpPr/>
          <p:nvPr/>
        </p:nvSpPr>
        <p:spPr>
          <a:xfrm>
            <a:off x="11013793" y="4508477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9047A3-359E-AE6F-76CE-8595534EACA9}"/>
              </a:ext>
            </a:extLst>
          </p:cNvPr>
          <p:cNvSpPr/>
          <p:nvPr/>
        </p:nvSpPr>
        <p:spPr>
          <a:xfrm>
            <a:off x="7853059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8E88EC-2303-16BF-E79E-DD85FBFF7B38}"/>
              </a:ext>
            </a:extLst>
          </p:cNvPr>
          <p:cNvSpPr/>
          <p:nvPr/>
        </p:nvSpPr>
        <p:spPr>
          <a:xfrm>
            <a:off x="9433427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B776D1-B915-B0C9-9BD2-F070BBF8E2CD}"/>
              </a:ext>
            </a:extLst>
          </p:cNvPr>
          <p:cNvSpPr/>
          <p:nvPr/>
        </p:nvSpPr>
        <p:spPr>
          <a:xfrm>
            <a:off x="11013795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37CD9C-5C5F-9F22-A2F5-03CB6045CB95}"/>
              </a:ext>
            </a:extLst>
          </p:cNvPr>
          <p:cNvCxnSpPr/>
          <p:nvPr/>
        </p:nvCxnSpPr>
        <p:spPr>
          <a:xfrm>
            <a:off x="4085192" y="5436296"/>
            <a:ext cx="82296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247354-6D7D-9675-EE3D-AC8A897B8AFD}"/>
              </a:ext>
            </a:extLst>
          </p:cNvPr>
          <p:cNvSpPr txBox="1"/>
          <p:nvPr/>
        </p:nvSpPr>
        <p:spPr>
          <a:xfrm>
            <a:off x="3998165" y="3992877"/>
            <a:ext cx="183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States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B8320F-F38C-CE50-E321-91A1F8CE5672}"/>
              </a:ext>
            </a:extLst>
          </p:cNvPr>
          <p:cNvSpPr txBox="1"/>
          <p:nvPr/>
        </p:nvSpPr>
        <p:spPr>
          <a:xfrm>
            <a:off x="3794986" y="6701797"/>
            <a:ext cx="1591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States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723F84-F22A-32DA-5BDC-38A4EF168914}"/>
              </a:ext>
            </a:extLst>
          </p:cNvPr>
          <p:cNvCxnSpPr>
            <a:stCxn id="6" idx="0"/>
            <a:endCxn id="4" idx="4"/>
          </p:cNvCxnSpPr>
          <p:nvPr/>
        </p:nvCxnSpPr>
        <p:spPr>
          <a:xfrm flipV="1">
            <a:off x="5039258" y="5204677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6AB887-40BB-C14D-4E59-74A50D90BB53}"/>
              </a:ext>
            </a:extLst>
          </p:cNvPr>
          <p:cNvCxnSpPr/>
          <p:nvPr/>
        </p:nvCxnSpPr>
        <p:spPr>
          <a:xfrm flipV="1">
            <a:off x="6619623" y="5208198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0F216-14A2-40B7-6CD8-99A67052C2A5}"/>
              </a:ext>
            </a:extLst>
          </p:cNvPr>
          <p:cNvCxnSpPr/>
          <p:nvPr/>
        </p:nvCxnSpPr>
        <p:spPr>
          <a:xfrm flipV="1">
            <a:off x="8199988" y="5211719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161488-F1CB-11B6-AB63-0216E7C1E199}"/>
              </a:ext>
            </a:extLst>
          </p:cNvPr>
          <p:cNvCxnSpPr/>
          <p:nvPr/>
        </p:nvCxnSpPr>
        <p:spPr>
          <a:xfrm flipV="1">
            <a:off x="9780353" y="5215240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72F1C4-2D3E-A712-D56E-56799351C8C2}"/>
              </a:ext>
            </a:extLst>
          </p:cNvPr>
          <p:cNvCxnSpPr/>
          <p:nvPr/>
        </p:nvCxnSpPr>
        <p:spPr>
          <a:xfrm flipV="1">
            <a:off x="11360718" y="5218761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FC11A3-0225-3924-D304-68306A5C0F6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6182" y="6008972"/>
            <a:ext cx="886509" cy="1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217148-CBC6-A30F-F606-B9839E2EB52D}"/>
              </a:ext>
            </a:extLst>
          </p:cNvPr>
          <p:cNvCxnSpPr>
            <a:cxnSpLocks/>
          </p:cNvCxnSpPr>
          <p:nvPr/>
        </p:nvCxnSpPr>
        <p:spPr>
          <a:xfrm flipV="1">
            <a:off x="6966549" y="6012494"/>
            <a:ext cx="886509" cy="1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7D55A8-0064-EB83-6536-CB04D5A1BC42}"/>
              </a:ext>
            </a:extLst>
          </p:cNvPr>
          <p:cNvCxnSpPr>
            <a:cxnSpLocks/>
          </p:cNvCxnSpPr>
          <p:nvPr/>
        </p:nvCxnSpPr>
        <p:spPr>
          <a:xfrm flipV="1">
            <a:off x="8546916" y="6016016"/>
            <a:ext cx="886509" cy="1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5787AF-8CD4-5B11-29A0-1F3B1F6A635F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0127283" y="6008972"/>
            <a:ext cx="886512" cy="2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396F9D04-FC6F-DDC3-ECD0-834CCE074066}"/>
              </a:ext>
            </a:extLst>
          </p:cNvPr>
          <p:cNvCxnSpPr>
            <a:stCxn id="6" idx="4"/>
            <a:endCxn id="6" idx="5"/>
          </p:cNvCxnSpPr>
          <p:nvPr/>
        </p:nvCxnSpPr>
        <p:spPr>
          <a:xfrm rot="5400000" flipH="1" flipV="1">
            <a:off x="5110939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90BDCB22-D615-9938-4E6B-7C4B2AC5FA6D}"/>
              </a:ext>
            </a:extLst>
          </p:cNvPr>
          <p:cNvCxnSpPr/>
          <p:nvPr/>
        </p:nvCxnSpPr>
        <p:spPr>
          <a:xfrm rot="5400000" flipH="1" flipV="1">
            <a:off x="6641191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28994F8-DD05-1000-43A7-A957111788E3}"/>
              </a:ext>
            </a:extLst>
          </p:cNvPr>
          <p:cNvCxnSpPr/>
          <p:nvPr/>
        </p:nvCxnSpPr>
        <p:spPr>
          <a:xfrm rot="5400000" flipH="1" flipV="1">
            <a:off x="8271670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3321A76E-2456-1696-E82D-233E1B98F776}"/>
              </a:ext>
            </a:extLst>
          </p:cNvPr>
          <p:cNvCxnSpPr/>
          <p:nvPr/>
        </p:nvCxnSpPr>
        <p:spPr>
          <a:xfrm rot="5400000" flipH="1" flipV="1">
            <a:off x="9841730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9A3FB62B-AA96-1E4F-DF65-776435F60F54}"/>
              </a:ext>
            </a:extLst>
          </p:cNvPr>
          <p:cNvCxnSpPr/>
          <p:nvPr/>
        </p:nvCxnSpPr>
        <p:spPr>
          <a:xfrm rot="5400000" flipH="1" flipV="1">
            <a:off x="11432400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7444788-8DB6-4CF5-F66D-5461D200D11B}"/>
              </a:ext>
            </a:extLst>
          </p:cNvPr>
          <p:cNvSpPr txBox="1"/>
          <p:nvPr/>
        </p:nvSpPr>
        <p:spPr>
          <a:xfrm>
            <a:off x="5564027" y="6701797"/>
            <a:ext cx="6143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transition parameterized by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~ Dirichlet(a), moreover (1) each transition has non-zero probability. (2) we have a finite number of states (3) at least 1 self-loop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7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28970</TotalTime>
  <Words>853</Words>
  <Application>Microsoft Macintosh PowerPoint</Application>
  <PresentationFormat>Custom</PresentationFormat>
  <Paragraphs>180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Terry Tong</dc:creator>
  <cp:lastModifiedBy>Terry Tong</cp:lastModifiedBy>
  <cp:revision>13</cp:revision>
  <dcterms:created xsi:type="dcterms:W3CDTF">2025-08-28T00:21:33Z</dcterms:created>
  <dcterms:modified xsi:type="dcterms:W3CDTF">2026-01-11T03:05:01Z</dcterms:modified>
</cp:coreProperties>
</file>